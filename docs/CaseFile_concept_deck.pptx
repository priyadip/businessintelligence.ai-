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number, then the silence. Then the three failures, which you expand verbally.</a:t>
            </a:r>
          </a:p>
          <a:p/>
          <a:p>
            <a:r>
              <a:t>SIGNIFICANCE: 8% against what? The baseline has to carry seasonality, calendar, weather and promotions. And detection across thousands of concurrent metric-by-segment monitors is a multiple-comparisons problem, not a thresholding problem. Uncorrected, a one percent threshold manufactures dozens of false anomalies every morning.</a:t>
            </a:r>
          </a:p>
          <a:p/>
          <a:p>
            <a:r>
              <a:t>ATTRIBUTION: decomposition finds the segment where the shortfall accumulated. That is an accounting identity, true by construction, and it carries no information about mechanism. Business dimensions co-vary, so the concentrating segment is routinely a coincidence.</a:t>
            </a:r>
          </a:p>
          <a:p/>
          <a:p>
            <a:r>
              <a:t>IDENTIFIABILITY: changes arrive bundled. A price revision and a software release days apart, to overlapping populations, leave no control group. The effect is not weakly estimated. It is not identified, and no further analysis of existing data recovers it.</a:t>
            </a:r>
          </a:p>
          <a:p/>
          <a:p>
            <a:r>
              <a:t>Right side: assume the enterprise already has these sources, and other operational systems besides. This is what we would build on top, and it ends in a certainty statement and a next move.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load-bearing claim is the split between the two rails. The language model proposes hypotheses and turns documents into typed claims on the way in, and fills slots on the way out. Everything between is computed. The amber arrow is the closure check: any numeral in the generated text that is not bound to a computed value triggers a rewrite.</a:t>
            </a:r>
          </a:p>
          <a:p/>
          <a:p>
            <a:r>
              <a:t>The Proof Ladder in full: R0 arithmetic, which is decomposition and is true by construction. R1 association. R2 temporal plus a known mechanism. R3 quasi-experimental, meaning a valid control group with placebo and sensitivity checks passing. R4 measured, meaning we ran the experiment. Every sentence the system writes carries its rung.</a:t>
            </a:r>
          </a:p>
          <a:p/>
          <a:p>
            <a:r>
              <a:t>If asked what is new here, it is the fourth engine and the loop back from the fifth.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on the top bar. Bolting a language model onto a dashboard makes the trust problem worse, not better, because it converts a silent gap into a confident wrong answer.</a:t>
            </a:r>
          </a:p>
          <a:p/>
          <a:p>
            <a:r>
              <a:t>Do not claim nobody else has the individual components. Several vendors ship detection, diagnosis, simulation and recommendation. The claim is the loop, and that we turn 'I don't know' into a measurable product outcome we report on ourselves.</a:t>
            </a:r>
          </a:p>
          <a:p/>
          <a:p>
            <a:r>
              <a:t>If asked about tooling: DoWhy, EconML, CausalImpact, ruptures, MAPIE. If asked about trust: we publish our own calibration curve, so our confidence claims are falsifiable.</a:t>
            </a:r>
          </a:p>
          <a:p/>
          <a:p>
            <a:r>
              <a:t>Close on the strip.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lIns="0" rIns="0" tIns="0" bIns="0" anchor="t">
            <a:spAutoFit/>
          </a:bodyPr>
          <a:lstStyle/>
          <a:p>
            <a:pPr algn="l">
              <a:lnSpc>
                <a:spcPct val="112000"/>
              </a:lnSpc>
            </a:pPr>
            <a:r>
              <a:rPr sz="850" b="1" i="0" spc="160">
                <a:solidFill>
                  <a:srgbClr val="8A959F"/>
                </a:solidFill>
                <a:latin typeface="Arial"/>
                <a:cs typeface="Arial"/>
                <a:ea typeface="Arial"/>
              </a:rPr>
              <a:t>1  PROBLEM STATEMENT   /   BUSINESSINTELLIGENCE.AI</a:t>
            </a:r>
          </a:p>
        </p:txBody>
      </p:sp>
      <p:sp>
        <p:nvSpPr>
          <p:cNvPr id="3" name="TextBox 2"/>
          <p:cNvSpPr txBox="1"/>
          <p:nvPr/>
        </p:nvSpPr>
        <p:spPr>
          <a:xfrm>
            <a:off x="658368" y="658368"/>
            <a:ext cx="10509199" cy="768096"/>
          </a:xfrm>
          <a:prstGeom prst="rect">
            <a:avLst/>
          </a:prstGeom>
          <a:noFill/>
        </p:spPr>
        <p:txBody>
          <a:bodyPr wrap="square" lIns="0" rIns="0" tIns="0" bIns="0" anchor="t">
            <a:spAutoFit/>
          </a:bodyPr>
          <a:lstStyle/>
          <a:p>
            <a:pPr algn="l">
              <a:lnSpc>
                <a:spcPct val="102000"/>
              </a:lnSpc>
            </a:pPr>
            <a:r>
              <a:rPr sz="3100" b="1" i="0">
                <a:solidFill>
                  <a:srgbClr val="131A22"/>
                </a:solidFill>
                <a:latin typeface="Arial"/>
                <a:cs typeface="Arial"/>
                <a:ea typeface="Arial"/>
              </a:rPr>
              <a:t>Your dashboard has never once told you why.</a:t>
            </a:r>
          </a:p>
        </p:txBody>
      </p:sp>
      <p:sp>
        <p:nvSpPr>
          <p:cNvPr id="4" name="TextBox 3"/>
          <p:cNvSpPr txBox="1"/>
          <p:nvPr/>
        </p:nvSpPr>
        <p:spPr>
          <a:xfrm>
            <a:off x="658368" y="1481328"/>
            <a:ext cx="10509199" cy="310896"/>
          </a:xfrm>
          <a:prstGeom prst="rect">
            <a:avLst/>
          </a:prstGeom>
          <a:noFill/>
        </p:spPr>
        <p:txBody>
          <a:bodyPr wrap="square" lIns="0" rIns="0" tIns="0" bIns="0" anchor="t">
            <a:spAutoFit/>
          </a:bodyPr>
          <a:lstStyle/>
          <a:p>
            <a:pPr algn="l">
              <a:lnSpc>
                <a:spcPct val="112000"/>
              </a:lnSpc>
            </a:pPr>
            <a:r>
              <a:rPr sz="1450" b="0" i="0">
                <a:solidFill>
                  <a:srgbClr val="4A5866"/>
                </a:solidFill>
                <a:latin typeface="Arial"/>
                <a:cs typeface="Arial"/>
                <a:ea typeface="Arial"/>
              </a:rPr>
              <a:t>And by the time someone works it out, the quarter has moved on.</a:t>
            </a:r>
          </a:p>
        </p:txBody>
      </p:sp>
      <p:cxnSp>
        <p:nvCxnSpPr>
          <p:cNvPr id="5" name="Connector 4"/>
          <p:cNvCxnSpPr/>
          <p:nvPr/>
        </p:nvCxnSpPr>
        <p:spPr>
          <a:xfrm>
            <a:off x="658368" y="1920240"/>
            <a:ext cx="10874959" cy="0"/>
          </a:xfrm>
          <a:prstGeom prst="line">
            <a:avLst/>
          </a:prstGeom>
          <a:ln w="9525">
            <a:solidFill>
              <a:srgbClr val="C9D2DA"/>
            </a:solidFill>
          </a:ln>
        </p:spPr>
        <p:style>
          <a:lnRef idx="2">
            <a:schemeClr val="accent1"/>
          </a:lnRef>
          <a:fillRef idx="0">
            <a:schemeClr val="accent1"/>
          </a:fillRef>
          <a:effectRef idx="1">
            <a:schemeClr val="accent1"/>
          </a:effectRef>
          <a:fontRef idx="minor">
            <a:schemeClr val="tx1"/>
          </a:fontRef>
        </p:style>
      </p:cxnSp>
      <p:sp>
        <p:nvSpPr>
          <p:cNvPr id="6" name="Freeform 5"/>
          <p:cNvSpPr/>
          <p:nvPr/>
        </p:nvSpPr>
        <p:spPr>
          <a:xfrm>
            <a:off x="868680" y="2602839"/>
            <a:ext cx="3566160" cy="38405"/>
          </a:xfrm>
          <a:custGeom>
            <a:avLst/>
            <a:gdLst/>
            <a:ahLst/>
            <a:cxnLst/>
            <a:rect l="l" t="t" r="r" b="b"/>
            <a:pathLst>
              <a:path w="3566160" h="38405">
                <a:moveTo>
                  <a:pt x="0" y="28804"/>
                </a:moveTo>
                <a:lnTo>
                  <a:pt x="254725" y="9601"/>
                </a:lnTo>
                <a:lnTo>
                  <a:pt x="509451" y="38405"/>
                </a:lnTo>
                <a:lnTo>
                  <a:pt x="764177" y="0"/>
                </a:lnTo>
                <a:lnTo>
                  <a:pt x="1018902" y="19202"/>
                </a:lnTo>
                <a:lnTo>
                  <a:pt x="1273628" y="9601"/>
                </a:lnTo>
                <a:lnTo>
                  <a:pt x="1528354" y="28804"/>
                </a:lnTo>
                <a:lnTo>
                  <a:pt x="1783080" y="9601"/>
                </a:lnTo>
                <a:lnTo>
                  <a:pt x="2037805" y="19202"/>
                </a:lnTo>
                <a:lnTo>
                  <a:pt x="2292531" y="0"/>
                </a:lnTo>
                <a:lnTo>
                  <a:pt x="2547257" y="28804"/>
                </a:lnTo>
                <a:lnTo>
                  <a:pt x="2801982" y="9601"/>
                </a:lnTo>
                <a:lnTo>
                  <a:pt x="3056708" y="19202"/>
                </a:lnTo>
                <a:lnTo>
                  <a:pt x="3311434" y="9601"/>
                </a:lnTo>
                <a:lnTo>
                  <a:pt x="3566160" y="28804"/>
                </a:lnTo>
              </a:path>
            </a:pathLst>
          </a:custGeom>
          <a:noFill/>
          <a:ln w="12700">
            <a:solidFill>
              <a:srgbClr val="8A959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868680" y="2593238"/>
            <a:ext cx="3566160" cy="374447"/>
          </a:xfrm>
          <a:custGeom>
            <a:avLst/>
            <a:gdLst/>
            <a:ahLst/>
            <a:cxnLst/>
            <a:rect l="l" t="t" r="r" b="b"/>
            <a:pathLst>
              <a:path w="3566160" h="374447">
                <a:moveTo>
                  <a:pt x="0" y="48006"/>
                </a:moveTo>
                <a:lnTo>
                  <a:pt x="254725" y="19202"/>
                </a:lnTo>
                <a:lnTo>
                  <a:pt x="509451" y="67208"/>
                </a:lnTo>
                <a:lnTo>
                  <a:pt x="764177" y="0"/>
                </a:lnTo>
                <a:lnTo>
                  <a:pt x="1018902" y="38405"/>
                </a:lnTo>
                <a:lnTo>
                  <a:pt x="1273628" y="9601"/>
                </a:lnTo>
                <a:lnTo>
                  <a:pt x="1528354" y="48006"/>
                </a:lnTo>
                <a:lnTo>
                  <a:pt x="1783080" y="19202"/>
                </a:lnTo>
                <a:lnTo>
                  <a:pt x="2037805" y="259232"/>
                </a:lnTo>
                <a:lnTo>
                  <a:pt x="2292531" y="326441"/>
                </a:lnTo>
                <a:lnTo>
                  <a:pt x="2547257" y="355244"/>
                </a:lnTo>
                <a:lnTo>
                  <a:pt x="2801982" y="336042"/>
                </a:lnTo>
                <a:lnTo>
                  <a:pt x="3056708" y="374447"/>
                </a:lnTo>
                <a:lnTo>
                  <a:pt x="3311434" y="345643"/>
                </a:lnTo>
                <a:lnTo>
                  <a:pt x="3566160" y="364846"/>
                </a:lnTo>
              </a:path>
            </a:pathLst>
          </a:custGeom>
          <a:noFill/>
          <a:ln w="25400">
            <a:solidFill>
              <a:srgbClr val="131A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685800" y="3319272"/>
            <a:ext cx="4023360" cy="0"/>
          </a:xfrm>
          <a:prstGeom prst="line">
            <a:avLst/>
          </a:prstGeom>
          <a:ln w="9525">
            <a:solidFill>
              <a:srgbClr val="C9D2DA"/>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851621" y="2797606"/>
            <a:ext cx="109728" cy="109728"/>
          </a:xfrm>
          <a:prstGeom prst="ellipse">
            <a:avLst/>
          </a:prstGeom>
          <a:solidFill>
            <a:srgbClr val="8F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2761488"/>
            <a:ext cx="1097280" cy="256032"/>
          </a:xfrm>
          <a:prstGeom prst="rect">
            <a:avLst/>
          </a:prstGeom>
          <a:noFill/>
        </p:spPr>
        <p:txBody>
          <a:bodyPr wrap="square" lIns="0" rIns="0" tIns="0" bIns="0" anchor="t">
            <a:spAutoFit/>
          </a:bodyPr>
          <a:lstStyle/>
          <a:p>
            <a:pPr algn="l">
              <a:lnSpc>
                <a:spcPct val="112000"/>
              </a:lnSpc>
            </a:pPr>
            <a:r>
              <a:rPr sz="1200" b="1" i="0">
                <a:solidFill>
                  <a:srgbClr val="8F2C26"/>
                </a:solidFill>
                <a:latin typeface="Arial"/>
                <a:cs typeface="Arial"/>
                <a:ea typeface="Arial"/>
              </a:rPr>
              <a:t>down 8.2%</a:t>
            </a:r>
          </a:p>
        </p:txBody>
      </p:sp>
      <p:sp>
        <p:nvSpPr>
          <p:cNvPr id="11" name="TextBox 10"/>
          <p:cNvSpPr txBox="1"/>
          <p:nvPr/>
        </p:nvSpPr>
        <p:spPr>
          <a:xfrm>
            <a:off x="658368" y="2048256"/>
            <a:ext cx="2743200" cy="201168"/>
          </a:xfrm>
          <a:prstGeom prst="rect">
            <a:avLst/>
          </a:prstGeom>
          <a:noFill/>
        </p:spPr>
        <p:txBody>
          <a:bodyPr wrap="square" lIns="0" rIns="0" tIns="0" bIns="0" anchor="t">
            <a:spAutoFit/>
          </a:bodyPr>
          <a:lstStyle/>
          <a:p>
            <a:pPr algn="l">
              <a:lnSpc>
                <a:spcPct val="112000"/>
              </a:lnSpc>
            </a:pPr>
            <a:r>
              <a:rPr sz="800" b="1" i="0" spc="120">
                <a:solidFill>
                  <a:srgbClr val="8A959F"/>
                </a:solidFill>
                <a:latin typeface="Arial"/>
                <a:cs typeface="Arial"/>
                <a:ea typeface="Arial"/>
              </a:rPr>
              <a:t>A REGIONAL KPI, FOUR WEEKS</a:t>
            </a:r>
          </a:p>
        </p:txBody>
      </p:sp>
      <p:sp>
        <p:nvSpPr>
          <p:cNvPr id="12" name="TextBox 11"/>
          <p:cNvSpPr txBox="1"/>
          <p:nvPr/>
        </p:nvSpPr>
        <p:spPr>
          <a:xfrm>
            <a:off x="658368" y="3383280"/>
            <a:ext cx="4617720" cy="201168"/>
          </a:xfrm>
          <a:prstGeom prst="rect">
            <a:avLst/>
          </a:prstGeom>
          <a:noFill/>
        </p:spPr>
        <p:txBody>
          <a:bodyPr wrap="square" lIns="0" rIns="0" tIns="0" bIns="0" anchor="t">
            <a:spAutoFit/>
          </a:bodyPr>
          <a:lstStyle/>
          <a:p>
            <a:pPr algn="l">
              <a:lnSpc>
                <a:spcPct val="112000"/>
              </a:lnSpc>
            </a:pPr>
            <a:r>
              <a:rPr sz="800" b="1" i="0" spc="60">
                <a:solidFill>
                  <a:srgbClr val="131A22"/>
                </a:solidFill>
                <a:latin typeface="Arial"/>
                <a:cs typeface="Arial"/>
                <a:ea typeface="Arial"/>
              </a:rPr>
              <a:t>solid: actual</a:t>
            </a:r>
            <a:r>
              <a:rPr sz="800" b="1" i="0" spc="60">
                <a:solidFill>
                  <a:srgbClr val="131A22"/>
                </a:solidFill>
                <a:latin typeface="Arial"/>
                <a:cs typeface="Arial"/>
                <a:ea typeface="Arial"/>
              </a:rPr>
              <a:t>     </a:t>
            </a:r>
            <a:r>
              <a:rPr sz="800" b="1" i="0" spc="60">
                <a:solidFill>
                  <a:srgbClr val="8A959F"/>
                </a:solidFill>
                <a:latin typeface="Arial"/>
                <a:cs typeface="Arial"/>
                <a:ea typeface="Arial"/>
              </a:rPr>
              <a:t>dashed: expected, season and covariate adjusted</a:t>
            </a:r>
          </a:p>
        </p:txBody>
      </p:sp>
      <p:cxnSp>
        <p:nvCxnSpPr>
          <p:cNvPr id="13" name="Connector 12"/>
          <p:cNvCxnSpPr/>
          <p:nvPr/>
        </p:nvCxnSpPr>
        <p:spPr>
          <a:xfrm>
            <a:off x="658368" y="3657600"/>
            <a:ext cx="4617720" cy="0"/>
          </a:xfrm>
          <a:prstGeom prst="line">
            <a:avLst/>
          </a:prstGeom>
          <a:ln w="9525">
            <a:solidFill>
              <a:srgbClr val="C9D2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3767328"/>
            <a:ext cx="4617720" cy="201168"/>
          </a:xfrm>
          <a:prstGeom prst="rect">
            <a:avLst/>
          </a:prstGeom>
          <a:noFill/>
        </p:spPr>
        <p:txBody>
          <a:bodyPr wrap="square" lIns="0" rIns="0" tIns="0" bIns="0" anchor="t">
            <a:spAutoFit/>
          </a:bodyPr>
          <a:lstStyle/>
          <a:p>
            <a:pPr algn="l">
              <a:lnSpc>
                <a:spcPct val="112000"/>
              </a:lnSpc>
            </a:pPr>
            <a:r>
              <a:rPr sz="800" b="1" i="0" spc="120">
                <a:solidFill>
                  <a:srgbClr val="8A959F"/>
                </a:solidFill>
                <a:latin typeface="Arial"/>
                <a:cs typeface="Arial"/>
                <a:ea typeface="Arial"/>
              </a:rPr>
              <a:t>THREE REASONS DASHBOARDS FAIL</a:t>
            </a:r>
          </a:p>
        </p:txBody>
      </p:sp>
      <p:sp>
        <p:nvSpPr>
          <p:cNvPr id="15" name="TextBox 14"/>
          <p:cNvSpPr txBox="1"/>
          <p:nvPr/>
        </p:nvSpPr>
        <p:spPr>
          <a:xfrm>
            <a:off x="658368" y="4059936"/>
            <a:ext cx="4617720" cy="475488"/>
          </a:xfrm>
          <a:prstGeom prst="rect">
            <a:avLst/>
          </a:prstGeom>
          <a:noFill/>
        </p:spPr>
        <p:txBody>
          <a:bodyPr wrap="square" lIns="0" rIns="0" tIns="0" bIns="0" anchor="t">
            <a:spAutoFit/>
          </a:bodyPr>
          <a:lstStyle/>
          <a:p>
            <a:pPr algn="l">
              <a:lnSpc>
                <a:spcPct val="112000"/>
              </a:lnSpc>
              <a:spcAft>
                <a:spcPts val="300"/>
              </a:spcAft>
            </a:pPr>
            <a:r>
              <a:rPr sz="850" b="1" i="0" spc="90">
                <a:solidFill>
                  <a:srgbClr val="54748A"/>
                </a:solidFill>
                <a:latin typeface="Arial"/>
                <a:cs typeface="Arial"/>
                <a:ea typeface="Arial"/>
              </a:rPr>
              <a:t>SIGNIFICANCE</a:t>
            </a:r>
          </a:p>
          <a:p>
            <a:pPr algn="l">
              <a:lnSpc>
                <a:spcPct val="114000"/>
              </a:lnSpc>
            </a:pPr>
            <a:r>
              <a:rPr sz="1200" b="0" i="0">
                <a:solidFill>
                  <a:srgbClr val="131A22"/>
                </a:solidFill>
                <a:latin typeface="Arial"/>
                <a:cs typeface="Arial"/>
                <a:ea typeface="Arial"/>
              </a:rPr>
              <a:t>Is the change actually abnormal?</a:t>
            </a:r>
          </a:p>
        </p:txBody>
      </p:sp>
      <p:sp>
        <p:nvSpPr>
          <p:cNvPr id="16" name="TextBox 15"/>
          <p:cNvSpPr txBox="1"/>
          <p:nvPr/>
        </p:nvSpPr>
        <p:spPr>
          <a:xfrm>
            <a:off x="658368" y="4626864"/>
            <a:ext cx="4617720" cy="475488"/>
          </a:xfrm>
          <a:prstGeom prst="rect">
            <a:avLst/>
          </a:prstGeom>
          <a:noFill/>
        </p:spPr>
        <p:txBody>
          <a:bodyPr wrap="square" lIns="0" rIns="0" tIns="0" bIns="0" anchor="t">
            <a:spAutoFit/>
          </a:bodyPr>
          <a:lstStyle/>
          <a:p>
            <a:pPr algn="l">
              <a:lnSpc>
                <a:spcPct val="112000"/>
              </a:lnSpc>
              <a:spcAft>
                <a:spcPts val="300"/>
              </a:spcAft>
            </a:pPr>
            <a:r>
              <a:rPr sz="850" b="1" i="0" spc="90">
                <a:solidFill>
                  <a:srgbClr val="336480"/>
                </a:solidFill>
                <a:latin typeface="Arial"/>
                <a:cs typeface="Arial"/>
                <a:ea typeface="Arial"/>
              </a:rPr>
              <a:t>ATTRIBUTION</a:t>
            </a:r>
          </a:p>
          <a:p>
            <a:pPr algn="l">
              <a:lnSpc>
                <a:spcPct val="114000"/>
              </a:lnSpc>
            </a:pPr>
            <a:r>
              <a:rPr sz="1200" b="0" i="0">
                <a:solidFill>
                  <a:srgbClr val="131A22"/>
                </a:solidFill>
                <a:latin typeface="Arial"/>
                <a:cs typeface="Arial"/>
                <a:ea typeface="Arial"/>
              </a:rPr>
              <a:t>Which driver is responsible, not merely correlated?</a:t>
            </a:r>
          </a:p>
        </p:txBody>
      </p:sp>
      <p:sp>
        <p:nvSpPr>
          <p:cNvPr id="17" name="TextBox 16"/>
          <p:cNvSpPr txBox="1"/>
          <p:nvPr/>
        </p:nvSpPr>
        <p:spPr>
          <a:xfrm>
            <a:off x="658368" y="5193792"/>
            <a:ext cx="4617720" cy="475488"/>
          </a:xfrm>
          <a:prstGeom prst="rect">
            <a:avLst/>
          </a:prstGeom>
          <a:noFill/>
        </p:spPr>
        <p:txBody>
          <a:bodyPr wrap="square" lIns="0" rIns="0" tIns="0" bIns="0" anchor="t">
            <a:spAutoFit/>
          </a:bodyPr>
          <a:lstStyle/>
          <a:p>
            <a:pPr algn="l">
              <a:lnSpc>
                <a:spcPct val="112000"/>
              </a:lnSpc>
              <a:spcAft>
                <a:spcPts val="300"/>
              </a:spcAft>
            </a:pPr>
            <a:r>
              <a:rPr sz="850" b="1" i="0" spc="90">
                <a:solidFill>
                  <a:srgbClr val="A9660A"/>
                </a:solidFill>
                <a:latin typeface="Arial"/>
                <a:cs typeface="Arial"/>
                <a:ea typeface="Arial"/>
              </a:rPr>
              <a:t>IDENTIFIABILITY</a:t>
            </a:r>
          </a:p>
          <a:p>
            <a:pPr algn="l">
              <a:lnSpc>
                <a:spcPct val="114000"/>
              </a:lnSpc>
            </a:pPr>
            <a:r>
              <a:rPr sz="1200" b="0" i="0">
                <a:solidFill>
                  <a:srgbClr val="131A22"/>
                </a:solidFill>
                <a:latin typeface="Arial"/>
                <a:cs typeface="Arial"/>
                <a:ea typeface="Arial"/>
              </a:rPr>
              <a:t>Can the available data distinguish competing causes?</a:t>
            </a:r>
          </a:p>
        </p:txBody>
      </p:sp>
      <p:sp>
        <p:nvSpPr>
          <p:cNvPr id="18" name="TextBox 17"/>
          <p:cNvSpPr txBox="1"/>
          <p:nvPr/>
        </p:nvSpPr>
        <p:spPr>
          <a:xfrm>
            <a:off x="5715000" y="2048256"/>
            <a:ext cx="5818327" cy="201168"/>
          </a:xfrm>
          <a:prstGeom prst="rect">
            <a:avLst/>
          </a:prstGeom>
          <a:noFill/>
        </p:spPr>
        <p:txBody>
          <a:bodyPr wrap="square" lIns="0" rIns="0" tIns="0" bIns="0" anchor="t">
            <a:spAutoFit/>
          </a:bodyPr>
          <a:lstStyle/>
          <a:p>
            <a:pPr algn="l">
              <a:lnSpc>
                <a:spcPct val="112000"/>
              </a:lnSpc>
            </a:pPr>
            <a:r>
              <a:rPr sz="800" b="1" i="0" spc="120">
                <a:solidFill>
                  <a:srgbClr val="8A959F"/>
                </a:solidFill>
                <a:latin typeface="Arial"/>
                <a:cs typeface="Arial"/>
                <a:ea typeface="Arial"/>
              </a:rPr>
              <a:t>BUILT ON DATA THE ENTERPRISE ALREADY HAS</a:t>
            </a:r>
          </a:p>
        </p:txBody>
      </p:sp>
      <p:sp>
        <p:nvSpPr>
          <p:cNvPr id="19" name="Rectangle 18"/>
          <p:cNvSpPr/>
          <p:nvPr/>
        </p:nvSpPr>
        <p:spPr>
          <a:xfrm>
            <a:off x="5715000" y="2286000"/>
            <a:ext cx="2761488" cy="106070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715000" y="2286000"/>
            <a:ext cx="2761488" cy="41148"/>
          </a:xfrm>
          <a:prstGeom prst="rect">
            <a:avLst/>
          </a:prstGeom>
          <a:solidFill>
            <a:srgbClr val="3364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897880" y="2450592"/>
            <a:ext cx="2395728" cy="219456"/>
          </a:xfrm>
          <a:prstGeom prst="rect">
            <a:avLst/>
          </a:prstGeom>
          <a:noFill/>
        </p:spPr>
        <p:txBody>
          <a:bodyPr wrap="square" lIns="0" rIns="0" tIns="0" bIns="0" anchor="t">
            <a:spAutoFit/>
          </a:bodyPr>
          <a:lstStyle/>
          <a:p>
            <a:pPr algn="l">
              <a:lnSpc>
                <a:spcPct val="112000"/>
              </a:lnSpc>
            </a:pPr>
            <a:r>
              <a:rPr sz="900" b="1" i="0" spc="90">
                <a:solidFill>
                  <a:srgbClr val="336480"/>
                </a:solidFill>
                <a:latin typeface="Arial"/>
                <a:cs typeface="Arial"/>
                <a:ea typeface="Arial"/>
              </a:rPr>
              <a:t>STRUCTURED</a:t>
            </a:r>
          </a:p>
        </p:txBody>
      </p:sp>
      <p:sp>
        <p:nvSpPr>
          <p:cNvPr id="22" name="TextBox 21"/>
          <p:cNvSpPr txBox="1"/>
          <p:nvPr/>
        </p:nvSpPr>
        <p:spPr>
          <a:xfrm>
            <a:off x="5897880" y="2724912"/>
            <a:ext cx="2395728" cy="548640"/>
          </a:xfrm>
          <a:prstGeom prst="rect">
            <a:avLst/>
          </a:prstGeom>
          <a:noFill/>
        </p:spPr>
        <p:txBody>
          <a:bodyPr wrap="square" lIns="0" rIns="0" tIns="0" bIns="0" anchor="t">
            <a:spAutoFit/>
          </a:bodyPr>
          <a:lstStyle/>
          <a:p>
            <a:pPr algn="l">
              <a:lnSpc>
                <a:spcPct val="132000"/>
              </a:lnSpc>
            </a:pPr>
            <a:r>
              <a:rPr sz="950" b="0" i="0">
                <a:solidFill>
                  <a:srgbClr val="4A5866"/>
                </a:solidFill>
                <a:latin typeface="Arial"/>
                <a:cs typeface="Arial"/>
                <a:ea typeface="Arial"/>
              </a:rPr>
              <a:t>Sales  ·  Pricing  ·  Inventory</a:t>
            </a:r>
          </a:p>
          <a:p>
            <a:pPr algn="l">
              <a:lnSpc>
                <a:spcPct val="132000"/>
              </a:lnSpc>
            </a:pPr>
            <a:r>
              <a:rPr sz="950" b="0" i="0">
                <a:solidFill>
                  <a:srgbClr val="4A5866"/>
                </a:solidFill>
                <a:latin typeface="Arial"/>
                <a:cs typeface="Arial"/>
                <a:ea typeface="Arial"/>
              </a:rPr>
              <a:t>Marketing  ·  Operations</a:t>
            </a:r>
          </a:p>
        </p:txBody>
      </p:sp>
      <p:sp>
        <p:nvSpPr>
          <p:cNvPr id="23" name="Rectangle 22"/>
          <p:cNvSpPr/>
          <p:nvPr/>
        </p:nvSpPr>
        <p:spPr>
          <a:xfrm>
            <a:off x="8769096" y="2286000"/>
            <a:ext cx="2761488" cy="106070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769096" y="2286000"/>
            <a:ext cx="2761488" cy="41148"/>
          </a:xfrm>
          <a:prstGeom prst="rect">
            <a:avLst/>
          </a:prstGeom>
          <a:solidFill>
            <a:srgbClr val="1360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951976" y="2450592"/>
            <a:ext cx="2395728" cy="219456"/>
          </a:xfrm>
          <a:prstGeom prst="rect">
            <a:avLst/>
          </a:prstGeom>
          <a:noFill/>
        </p:spPr>
        <p:txBody>
          <a:bodyPr wrap="square" lIns="0" rIns="0" tIns="0" bIns="0" anchor="t">
            <a:spAutoFit/>
          </a:bodyPr>
          <a:lstStyle/>
          <a:p>
            <a:pPr algn="l">
              <a:lnSpc>
                <a:spcPct val="112000"/>
              </a:lnSpc>
            </a:pPr>
            <a:r>
              <a:rPr sz="900" b="1" i="0" spc="90">
                <a:solidFill>
                  <a:srgbClr val="136065"/>
                </a:solidFill>
                <a:latin typeface="Arial"/>
                <a:cs typeface="Arial"/>
                <a:ea typeface="Arial"/>
              </a:rPr>
              <a:t>UNSTRUCTURED</a:t>
            </a:r>
          </a:p>
        </p:txBody>
      </p:sp>
      <p:sp>
        <p:nvSpPr>
          <p:cNvPr id="26" name="TextBox 25"/>
          <p:cNvSpPr txBox="1"/>
          <p:nvPr/>
        </p:nvSpPr>
        <p:spPr>
          <a:xfrm>
            <a:off x="8951976" y="2724912"/>
            <a:ext cx="2395728" cy="548640"/>
          </a:xfrm>
          <a:prstGeom prst="rect">
            <a:avLst/>
          </a:prstGeom>
          <a:noFill/>
        </p:spPr>
        <p:txBody>
          <a:bodyPr wrap="square" lIns="0" rIns="0" tIns="0" bIns="0" anchor="t">
            <a:spAutoFit/>
          </a:bodyPr>
          <a:lstStyle/>
          <a:p>
            <a:pPr algn="l">
              <a:lnSpc>
                <a:spcPct val="132000"/>
              </a:lnSpc>
            </a:pPr>
            <a:r>
              <a:rPr sz="950" b="0" i="0">
                <a:solidFill>
                  <a:srgbClr val="4A5866"/>
                </a:solidFill>
                <a:latin typeface="Arial"/>
                <a:cs typeface="Arial"/>
                <a:ea typeface="Arial"/>
              </a:rPr>
              <a:t>Reviews  ·  Tickets  ·  Emails</a:t>
            </a:r>
          </a:p>
          <a:p>
            <a:pPr algn="l">
              <a:lnSpc>
                <a:spcPct val="132000"/>
              </a:lnSpc>
            </a:pPr>
            <a:r>
              <a:rPr sz="950" b="0" i="0">
                <a:solidFill>
                  <a:srgbClr val="4A5866"/>
                </a:solidFill>
                <a:latin typeface="Arial"/>
                <a:cs typeface="Arial"/>
                <a:ea typeface="Arial"/>
              </a:rPr>
              <a:t>Reports  ·  Incident logs</a:t>
            </a:r>
          </a:p>
        </p:txBody>
      </p:sp>
      <p:cxnSp>
        <p:nvCxnSpPr>
          <p:cNvPr id="27" name="Connector 26"/>
          <p:cNvCxnSpPr/>
          <p:nvPr/>
        </p:nvCxnSpPr>
        <p:spPr>
          <a:xfrm>
            <a:off x="7095744" y="3383280"/>
            <a:ext cx="1353312" cy="475488"/>
          </a:xfrm>
          <a:prstGeom prst="line">
            <a:avLst/>
          </a:prstGeom>
          <a:ln w="13970">
            <a:solidFill>
              <a:srgbClr val="4A586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8796528" y="3383280"/>
            <a:ext cx="1353312" cy="475488"/>
          </a:xfrm>
          <a:prstGeom prst="line">
            <a:avLst/>
          </a:prstGeom>
          <a:ln w="13970">
            <a:solidFill>
              <a:srgbClr val="4A5866"/>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715000" y="3895344"/>
            <a:ext cx="5818327" cy="457200"/>
          </a:xfrm>
          <a:prstGeom prst="rect">
            <a:avLst/>
          </a:prstGeom>
          <a:solidFill>
            <a:srgbClr val="131A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715000" y="4023360"/>
            <a:ext cx="5818327" cy="237744"/>
          </a:xfrm>
          <a:prstGeom prst="rect">
            <a:avLst/>
          </a:prstGeom>
          <a:noFill/>
        </p:spPr>
        <p:txBody>
          <a:bodyPr wrap="square" lIns="0" rIns="0" tIns="0" bIns="0" anchor="t">
            <a:spAutoFit/>
          </a:bodyPr>
          <a:lstStyle/>
          <a:p>
            <a:pPr algn="ctr">
              <a:lnSpc>
                <a:spcPct val="112000"/>
              </a:lnSpc>
            </a:pPr>
            <a:r>
              <a:rPr sz="1200" b="1" i="0">
                <a:solidFill>
                  <a:srgbClr val="FFFFFF"/>
                </a:solidFill>
                <a:latin typeface="Arial"/>
                <a:cs typeface="Arial"/>
                <a:ea typeface="Arial"/>
              </a:rPr>
              <a:t>C A S E F I L E</a:t>
            </a:r>
          </a:p>
        </p:txBody>
      </p:sp>
      <p:cxnSp>
        <p:nvCxnSpPr>
          <p:cNvPr id="31" name="Connector 30"/>
          <p:cNvCxnSpPr/>
          <p:nvPr/>
        </p:nvCxnSpPr>
        <p:spPr>
          <a:xfrm>
            <a:off x="8622792" y="4352544"/>
            <a:ext cx="0" cy="292608"/>
          </a:xfrm>
          <a:prstGeom prst="line">
            <a:avLst/>
          </a:prstGeom>
          <a:ln w="13970">
            <a:solidFill>
              <a:srgbClr val="4A5866"/>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715000" y="4681728"/>
            <a:ext cx="1344168" cy="38404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5715000" y="4681728"/>
            <a:ext cx="1344168" cy="36576"/>
          </a:xfrm>
          <a:prstGeom prst="rect">
            <a:avLst/>
          </a:prstGeom>
          <a:solidFill>
            <a:srgbClr val="7985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715000" y="4791456"/>
            <a:ext cx="1344168" cy="219456"/>
          </a:xfrm>
          <a:prstGeom prst="rect">
            <a:avLst/>
          </a:prstGeom>
          <a:noFill/>
        </p:spPr>
        <p:txBody>
          <a:bodyPr wrap="square" lIns="0" rIns="0" tIns="0" bIns="0" anchor="t">
            <a:spAutoFit/>
          </a:bodyPr>
          <a:lstStyle/>
          <a:p>
            <a:pPr algn="ctr">
              <a:lnSpc>
                <a:spcPct val="112000"/>
              </a:lnSpc>
            </a:pPr>
            <a:r>
              <a:rPr sz="900" b="1" i="0" spc="50">
                <a:solidFill>
                  <a:srgbClr val="79858F"/>
                </a:solidFill>
                <a:latin typeface="Arial"/>
                <a:cs typeface="Arial"/>
                <a:ea typeface="Arial"/>
              </a:rPr>
              <a:t>KPI</a:t>
            </a:r>
          </a:p>
        </p:txBody>
      </p:sp>
      <p:sp>
        <p:nvSpPr>
          <p:cNvPr id="35" name="TextBox 34"/>
          <p:cNvSpPr txBox="1"/>
          <p:nvPr/>
        </p:nvSpPr>
        <p:spPr>
          <a:xfrm>
            <a:off x="5715000" y="5138928"/>
            <a:ext cx="1344168" cy="457200"/>
          </a:xfrm>
          <a:prstGeom prst="rect">
            <a:avLst/>
          </a:prstGeom>
          <a:noFill/>
        </p:spPr>
        <p:txBody>
          <a:bodyPr wrap="square" lIns="0" rIns="0" tIns="0" bIns="0" anchor="t">
            <a:spAutoFit/>
          </a:bodyPr>
          <a:lstStyle/>
          <a:p>
            <a:pPr algn="ctr">
              <a:lnSpc>
                <a:spcPct val="118000"/>
              </a:lnSpc>
            </a:pPr>
            <a:r>
              <a:rPr sz="850" b="0" i="0">
                <a:solidFill>
                  <a:srgbClr val="4A5866"/>
                </a:solidFill>
                <a:latin typeface="Arial"/>
                <a:cs typeface="Arial"/>
                <a:ea typeface="Arial"/>
              </a:rPr>
              <a:t>what changed,</a:t>
            </a:r>
          </a:p>
          <a:p>
            <a:pPr algn="ctr">
              <a:lnSpc>
                <a:spcPct val="118000"/>
              </a:lnSpc>
            </a:pPr>
            <a:r>
              <a:rPr sz="850" b="0" i="0">
                <a:solidFill>
                  <a:srgbClr val="4A5866"/>
                </a:solidFill>
                <a:latin typeface="Arial"/>
                <a:cs typeface="Arial"/>
                <a:ea typeface="Arial"/>
              </a:rPr>
              <a:t>and is it real</a:t>
            </a:r>
          </a:p>
        </p:txBody>
      </p:sp>
      <p:cxnSp>
        <p:nvCxnSpPr>
          <p:cNvPr id="36" name="Connector 35"/>
          <p:cNvCxnSpPr/>
          <p:nvPr/>
        </p:nvCxnSpPr>
        <p:spPr>
          <a:xfrm>
            <a:off x="7077455" y="4873752"/>
            <a:ext cx="109729" cy="0"/>
          </a:xfrm>
          <a:prstGeom prst="line">
            <a:avLst/>
          </a:prstGeom>
          <a:ln w="11430">
            <a:solidFill>
              <a:srgbClr val="8A959F"/>
            </a:solidFill>
            <a:tailEnd type="triangle" w="sm" len="sm"/>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205472" y="4681728"/>
            <a:ext cx="1344168" cy="38404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7205472" y="4681728"/>
            <a:ext cx="1344168" cy="36576"/>
          </a:xfrm>
          <a:prstGeom prst="rect">
            <a:avLst/>
          </a:prstGeom>
          <a:solidFill>
            <a:srgbClr val="3364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205472" y="4791456"/>
            <a:ext cx="1344168" cy="219456"/>
          </a:xfrm>
          <a:prstGeom prst="rect">
            <a:avLst/>
          </a:prstGeom>
          <a:noFill/>
        </p:spPr>
        <p:txBody>
          <a:bodyPr wrap="square" lIns="0" rIns="0" tIns="0" bIns="0" anchor="t">
            <a:spAutoFit/>
          </a:bodyPr>
          <a:lstStyle/>
          <a:p>
            <a:pPr algn="ctr">
              <a:lnSpc>
                <a:spcPct val="112000"/>
              </a:lnSpc>
            </a:pPr>
            <a:r>
              <a:rPr sz="900" b="1" i="0" spc="50">
                <a:solidFill>
                  <a:srgbClr val="336480"/>
                </a:solidFill>
                <a:latin typeface="Arial"/>
                <a:cs typeface="Arial"/>
                <a:ea typeface="Arial"/>
              </a:rPr>
              <a:t>WHY</a:t>
            </a:r>
          </a:p>
        </p:txBody>
      </p:sp>
      <p:sp>
        <p:nvSpPr>
          <p:cNvPr id="40" name="TextBox 39"/>
          <p:cNvSpPr txBox="1"/>
          <p:nvPr/>
        </p:nvSpPr>
        <p:spPr>
          <a:xfrm>
            <a:off x="7205472" y="5138928"/>
            <a:ext cx="1344168" cy="457200"/>
          </a:xfrm>
          <a:prstGeom prst="rect">
            <a:avLst/>
          </a:prstGeom>
          <a:noFill/>
        </p:spPr>
        <p:txBody>
          <a:bodyPr wrap="square" lIns="0" rIns="0" tIns="0" bIns="0" anchor="t">
            <a:spAutoFit/>
          </a:bodyPr>
          <a:lstStyle/>
          <a:p>
            <a:pPr algn="ctr">
              <a:lnSpc>
                <a:spcPct val="118000"/>
              </a:lnSpc>
            </a:pPr>
            <a:r>
              <a:rPr sz="850" b="0" i="0">
                <a:solidFill>
                  <a:srgbClr val="4A5866"/>
                </a:solidFill>
                <a:latin typeface="Arial"/>
                <a:cs typeface="Arial"/>
                <a:ea typeface="Arial"/>
              </a:rPr>
              <a:t>competing causes,</a:t>
            </a:r>
          </a:p>
          <a:p>
            <a:pPr algn="ctr">
              <a:lnSpc>
                <a:spcPct val="118000"/>
              </a:lnSpc>
            </a:pPr>
            <a:r>
              <a:rPr sz="850" b="0" i="0">
                <a:solidFill>
                  <a:srgbClr val="4A5866"/>
                </a:solidFill>
                <a:latin typeface="Arial"/>
                <a:cs typeface="Arial"/>
                <a:ea typeface="Arial"/>
              </a:rPr>
              <a:t>weighed</a:t>
            </a:r>
          </a:p>
        </p:txBody>
      </p:sp>
      <p:cxnSp>
        <p:nvCxnSpPr>
          <p:cNvPr id="41" name="Connector 40"/>
          <p:cNvCxnSpPr/>
          <p:nvPr/>
        </p:nvCxnSpPr>
        <p:spPr>
          <a:xfrm>
            <a:off x="8567928" y="4873752"/>
            <a:ext cx="109728" cy="0"/>
          </a:xfrm>
          <a:prstGeom prst="line">
            <a:avLst/>
          </a:prstGeom>
          <a:ln w="11430">
            <a:solidFill>
              <a:srgbClr val="8A959F"/>
            </a:solidFill>
            <a:tailEnd type="triangle" w="sm" len="sm"/>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8695944" y="4681728"/>
            <a:ext cx="1344168" cy="384048"/>
          </a:xfrm>
          <a:prstGeom prst="rect">
            <a:avLst/>
          </a:prstGeom>
          <a:solidFill>
            <a:srgbClr val="F7EE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8695944" y="4681728"/>
            <a:ext cx="1344168" cy="36576"/>
          </a:xfrm>
          <a:prstGeom prst="rect">
            <a:avLst/>
          </a:prstGeom>
          <a:solidFill>
            <a:srgbClr val="A966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695944" y="4791456"/>
            <a:ext cx="1344168" cy="219456"/>
          </a:xfrm>
          <a:prstGeom prst="rect">
            <a:avLst/>
          </a:prstGeom>
          <a:noFill/>
        </p:spPr>
        <p:txBody>
          <a:bodyPr wrap="square" lIns="0" rIns="0" tIns="0" bIns="0" anchor="t">
            <a:spAutoFit/>
          </a:bodyPr>
          <a:lstStyle/>
          <a:p>
            <a:pPr algn="ctr">
              <a:lnSpc>
                <a:spcPct val="112000"/>
              </a:lnSpc>
            </a:pPr>
            <a:r>
              <a:rPr sz="900" b="1" i="0" spc="50">
                <a:solidFill>
                  <a:srgbClr val="A9660A"/>
                </a:solidFill>
                <a:latin typeface="Arial"/>
                <a:cs typeface="Arial"/>
                <a:ea typeface="Arial"/>
              </a:rPr>
              <a:t>CERTAINTY</a:t>
            </a:r>
          </a:p>
        </p:txBody>
      </p:sp>
      <p:sp>
        <p:nvSpPr>
          <p:cNvPr id="45" name="TextBox 44"/>
          <p:cNvSpPr txBox="1"/>
          <p:nvPr/>
        </p:nvSpPr>
        <p:spPr>
          <a:xfrm>
            <a:off x="8695944" y="5138928"/>
            <a:ext cx="1344168" cy="457200"/>
          </a:xfrm>
          <a:prstGeom prst="rect">
            <a:avLst/>
          </a:prstGeom>
          <a:noFill/>
        </p:spPr>
        <p:txBody>
          <a:bodyPr wrap="square" lIns="0" rIns="0" tIns="0" bIns="0" anchor="t">
            <a:spAutoFit/>
          </a:bodyPr>
          <a:lstStyle/>
          <a:p>
            <a:pPr algn="ctr">
              <a:lnSpc>
                <a:spcPct val="118000"/>
              </a:lnSpc>
            </a:pPr>
            <a:r>
              <a:rPr sz="850" b="0" i="0">
                <a:solidFill>
                  <a:srgbClr val="4A5866"/>
                </a:solidFill>
                <a:latin typeface="Arial"/>
                <a:cs typeface="Arial"/>
                <a:ea typeface="Arial"/>
              </a:rPr>
              <a:t>how strong the</a:t>
            </a:r>
          </a:p>
          <a:p>
            <a:pPr algn="ctr">
              <a:lnSpc>
                <a:spcPct val="118000"/>
              </a:lnSpc>
            </a:pPr>
            <a:r>
              <a:rPr sz="850" b="0" i="0">
                <a:solidFill>
                  <a:srgbClr val="4A5866"/>
                </a:solidFill>
                <a:latin typeface="Arial"/>
                <a:cs typeface="Arial"/>
                <a:ea typeface="Arial"/>
              </a:rPr>
              <a:t>evidence actually is</a:t>
            </a:r>
          </a:p>
        </p:txBody>
      </p:sp>
      <p:cxnSp>
        <p:nvCxnSpPr>
          <p:cNvPr id="46" name="Connector 45"/>
          <p:cNvCxnSpPr/>
          <p:nvPr/>
        </p:nvCxnSpPr>
        <p:spPr>
          <a:xfrm>
            <a:off x="10058400" y="4873752"/>
            <a:ext cx="109728" cy="0"/>
          </a:xfrm>
          <a:prstGeom prst="line">
            <a:avLst/>
          </a:prstGeom>
          <a:ln w="11430">
            <a:solidFill>
              <a:srgbClr val="8A959F"/>
            </a:solidFill>
            <a:tailEnd type="triangle" w="sm" len="sm"/>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0186416" y="4681728"/>
            <a:ext cx="1344168" cy="384048"/>
          </a:xfrm>
          <a:prstGeom prst="rect">
            <a:avLst/>
          </a:prstGeom>
          <a:solidFill>
            <a:srgbClr val="E2EF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10186416" y="4681728"/>
            <a:ext cx="1344168" cy="36576"/>
          </a:xfrm>
          <a:prstGeom prst="rect">
            <a:avLst/>
          </a:prstGeom>
          <a:solidFill>
            <a:srgbClr val="0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0186416" y="4791456"/>
            <a:ext cx="1344168" cy="219456"/>
          </a:xfrm>
          <a:prstGeom prst="rect">
            <a:avLst/>
          </a:prstGeom>
          <a:noFill/>
        </p:spPr>
        <p:txBody>
          <a:bodyPr wrap="square" lIns="0" rIns="0" tIns="0" bIns="0" anchor="t">
            <a:spAutoFit/>
          </a:bodyPr>
          <a:lstStyle/>
          <a:p>
            <a:pPr algn="ctr">
              <a:lnSpc>
                <a:spcPct val="112000"/>
              </a:lnSpc>
            </a:pPr>
            <a:r>
              <a:rPr sz="900" b="1" i="0" spc="50">
                <a:solidFill>
                  <a:srgbClr val="0B7355"/>
                </a:solidFill>
                <a:latin typeface="Arial"/>
                <a:cs typeface="Arial"/>
                <a:ea typeface="Arial"/>
              </a:rPr>
              <a:t>WHAT NEXT</a:t>
            </a:r>
          </a:p>
        </p:txBody>
      </p:sp>
      <p:sp>
        <p:nvSpPr>
          <p:cNvPr id="50" name="TextBox 49"/>
          <p:cNvSpPr txBox="1"/>
          <p:nvPr/>
        </p:nvSpPr>
        <p:spPr>
          <a:xfrm>
            <a:off x="10186416" y="5138928"/>
            <a:ext cx="1344168" cy="457200"/>
          </a:xfrm>
          <a:prstGeom prst="rect">
            <a:avLst/>
          </a:prstGeom>
          <a:noFill/>
        </p:spPr>
        <p:txBody>
          <a:bodyPr wrap="square" lIns="0" rIns="0" tIns="0" bIns="0" anchor="t">
            <a:spAutoFit/>
          </a:bodyPr>
          <a:lstStyle/>
          <a:p>
            <a:pPr algn="ctr">
              <a:lnSpc>
                <a:spcPct val="118000"/>
              </a:lnSpc>
            </a:pPr>
            <a:r>
              <a:rPr sz="850" b="0" i="0">
                <a:solidFill>
                  <a:srgbClr val="4A5866"/>
                </a:solidFill>
                <a:latin typeface="Arial"/>
                <a:cs typeface="Arial"/>
                <a:ea typeface="Arial"/>
              </a:rPr>
              <a:t>act, or run the</a:t>
            </a:r>
          </a:p>
          <a:p>
            <a:pPr algn="ctr">
              <a:lnSpc>
                <a:spcPct val="118000"/>
              </a:lnSpc>
            </a:pPr>
            <a:r>
              <a:rPr sz="850" b="0" i="0">
                <a:solidFill>
                  <a:srgbClr val="4A5866"/>
                </a:solidFill>
                <a:latin typeface="Arial"/>
                <a:cs typeface="Arial"/>
                <a:ea typeface="Arial"/>
              </a:rPr>
              <a:t>decisive test</a:t>
            </a:r>
          </a:p>
        </p:txBody>
      </p:sp>
      <p:sp>
        <p:nvSpPr>
          <p:cNvPr id="51" name="TextBox 50"/>
          <p:cNvSpPr txBox="1"/>
          <p:nvPr/>
        </p:nvSpPr>
        <p:spPr>
          <a:xfrm>
            <a:off x="5715000" y="5815584"/>
            <a:ext cx="5818327" cy="274320"/>
          </a:xfrm>
          <a:prstGeom prst="rect">
            <a:avLst/>
          </a:prstGeom>
          <a:noFill/>
        </p:spPr>
        <p:txBody>
          <a:bodyPr wrap="square" lIns="0" rIns="0" tIns="0" bIns="0" anchor="t">
            <a:spAutoFit/>
          </a:bodyPr>
          <a:lstStyle/>
          <a:p>
            <a:pPr algn="l">
              <a:lnSpc>
                <a:spcPct val="112000"/>
              </a:lnSpc>
            </a:pPr>
            <a:r>
              <a:rPr sz="900" b="0" i="0">
                <a:solidFill>
                  <a:srgbClr val="8A959F"/>
                </a:solidFill>
                <a:latin typeface="Arial"/>
                <a:cs typeface="Arial"/>
                <a:ea typeface="Arial"/>
              </a:rPr>
              <a:t>No client data. Evaluated on synthetic incidents with known ground truth.</a:t>
            </a:r>
          </a:p>
        </p:txBody>
      </p:sp>
      <p:sp>
        <p:nvSpPr>
          <p:cNvPr id="52" name="TextBox 51"/>
          <p:cNvSpPr txBox="1"/>
          <p:nvPr/>
        </p:nvSpPr>
        <p:spPr>
          <a:xfrm>
            <a:off x="658368" y="6419088"/>
            <a:ext cx="3657600" cy="219456"/>
          </a:xfrm>
          <a:prstGeom prst="rect">
            <a:avLst/>
          </a:prstGeom>
          <a:noFill/>
        </p:spPr>
        <p:txBody>
          <a:bodyPr wrap="square" lIns="0" rIns="0" tIns="0" bIns="0" anchor="t">
            <a:spAutoFit/>
          </a:bodyPr>
          <a:lstStyle/>
          <a:p>
            <a:pPr algn="l">
              <a:lnSpc>
                <a:spcPct val="112000"/>
              </a:lnSpc>
            </a:pPr>
            <a:r>
              <a:rPr sz="850" b="1" i="0">
                <a:solidFill>
                  <a:srgbClr val="131A22"/>
                </a:solidFill>
                <a:latin typeface="Arial"/>
                <a:cs typeface="Arial"/>
                <a:ea typeface="Arial"/>
              </a:rPr>
              <a:t>CaseFile</a:t>
            </a:r>
            <a:r>
              <a:rPr sz="850" b="0" i="0">
                <a:solidFill>
                  <a:srgbClr val="8A959F"/>
                </a:solidFill>
                <a:latin typeface="Arial"/>
                <a:cs typeface="Arial"/>
                <a:ea typeface="Arial"/>
              </a:rPr>
              <a:t>   the number is where the investigation starts</a:t>
            </a:r>
          </a:p>
        </p:txBody>
      </p:sp>
      <p:sp>
        <p:nvSpPr>
          <p:cNvPr id="53" name="TextBox 52"/>
          <p:cNvSpPr txBox="1"/>
          <p:nvPr/>
        </p:nvSpPr>
        <p:spPr>
          <a:xfrm>
            <a:off x="9704527" y="6419088"/>
            <a:ext cx="1828800" cy="219456"/>
          </a:xfrm>
          <a:prstGeom prst="rect">
            <a:avLst/>
          </a:prstGeom>
          <a:noFill/>
        </p:spPr>
        <p:txBody>
          <a:bodyPr wrap="square" lIns="0" rIns="0" tIns="0" bIns="0" anchor="t">
            <a:spAutoFit/>
          </a:bodyPr>
          <a:lstStyle/>
          <a:p>
            <a:pPr algn="r">
              <a:lnSpc>
                <a:spcPct val="112000"/>
              </a:lnSpc>
            </a:pPr>
            <a:r>
              <a:rPr sz="850" b="0" i="0">
                <a:solidFill>
                  <a:srgbClr val="8A959F"/>
                </a:solidFill>
                <a:latin typeface="Arial"/>
                <a:cs typeface="Arial"/>
                <a:ea typeface="Arial"/>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lIns="0" rIns="0" tIns="0" bIns="0" anchor="t">
            <a:spAutoFit/>
          </a:bodyPr>
          <a:lstStyle/>
          <a:p>
            <a:pPr algn="l">
              <a:lnSpc>
                <a:spcPct val="112000"/>
              </a:lnSpc>
            </a:pPr>
            <a:r>
              <a:rPr sz="850" b="1" i="0" spc="160">
                <a:solidFill>
                  <a:srgbClr val="8A959F"/>
                </a:solidFill>
                <a:latin typeface="Arial"/>
                <a:cs typeface="Arial"/>
                <a:ea typeface="Arial"/>
              </a:rPr>
              <a:t>2  CONCEPT AND APPROACH   /   HOW IT WORKS</a:t>
            </a:r>
          </a:p>
        </p:txBody>
      </p:sp>
      <p:sp>
        <p:nvSpPr>
          <p:cNvPr id="3" name="TextBox 2"/>
          <p:cNvSpPr txBox="1"/>
          <p:nvPr/>
        </p:nvSpPr>
        <p:spPr>
          <a:xfrm>
            <a:off x="658368" y="658368"/>
            <a:ext cx="10509199" cy="768096"/>
          </a:xfrm>
          <a:prstGeom prst="rect">
            <a:avLst/>
          </a:prstGeom>
          <a:noFill/>
        </p:spPr>
        <p:txBody>
          <a:bodyPr wrap="square" lIns="0" rIns="0" tIns="0" bIns="0" anchor="t">
            <a:spAutoFit/>
          </a:bodyPr>
          <a:lstStyle/>
          <a:p>
            <a:pPr algn="l">
              <a:lnSpc>
                <a:spcPct val="102000"/>
              </a:lnSpc>
            </a:pPr>
            <a:r>
              <a:rPr sz="3100" b="1" i="0">
                <a:solidFill>
                  <a:srgbClr val="131A22"/>
                </a:solidFill>
                <a:latin typeface="Arial"/>
                <a:cs typeface="Arial"/>
                <a:ea typeface="Arial"/>
              </a:rPr>
              <a:t>The machine computes. The model only translates.</a:t>
            </a:r>
          </a:p>
        </p:txBody>
      </p:sp>
      <p:sp>
        <p:nvSpPr>
          <p:cNvPr id="4" name="TextBox 3"/>
          <p:cNvSpPr txBox="1"/>
          <p:nvPr/>
        </p:nvSpPr>
        <p:spPr>
          <a:xfrm>
            <a:off x="658368" y="1481328"/>
            <a:ext cx="10509199" cy="310896"/>
          </a:xfrm>
          <a:prstGeom prst="rect">
            <a:avLst/>
          </a:prstGeom>
          <a:noFill/>
        </p:spPr>
        <p:txBody>
          <a:bodyPr wrap="square" lIns="0" rIns="0" tIns="0" bIns="0" anchor="t">
            <a:spAutoFit/>
          </a:bodyPr>
          <a:lstStyle/>
          <a:p>
            <a:pPr algn="l">
              <a:lnSpc>
                <a:spcPct val="112000"/>
              </a:lnSpc>
            </a:pPr>
            <a:r>
              <a:rPr sz="1450" b="0" i="0">
                <a:solidFill>
                  <a:srgbClr val="4A5866"/>
                </a:solidFill>
                <a:latin typeface="Arial"/>
                <a:cs typeface="Arial"/>
                <a:ea typeface="Arial"/>
              </a:rPr>
              <a:t>If the evidence cannot decide, we do not invent a cause. We design the test.</a:t>
            </a:r>
          </a:p>
        </p:txBody>
      </p:sp>
      <p:cxnSp>
        <p:nvCxnSpPr>
          <p:cNvPr id="5" name="Connector 4"/>
          <p:cNvCxnSpPr/>
          <p:nvPr/>
        </p:nvCxnSpPr>
        <p:spPr>
          <a:xfrm>
            <a:off x="658368" y="1920240"/>
            <a:ext cx="10874959" cy="0"/>
          </a:xfrm>
          <a:prstGeom prst="line">
            <a:avLst/>
          </a:prstGeom>
          <a:ln w="9525">
            <a:solidFill>
              <a:srgbClr val="C9D2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2139696"/>
            <a:ext cx="10874959" cy="201168"/>
          </a:xfrm>
          <a:prstGeom prst="rect">
            <a:avLst/>
          </a:prstGeom>
          <a:noFill/>
        </p:spPr>
        <p:txBody>
          <a:bodyPr wrap="square" lIns="0" rIns="0" tIns="0" bIns="0" anchor="t">
            <a:spAutoFit/>
          </a:bodyPr>
          <a:lstStyle/>
          <a:p>
            <a:pPr algn="ctr">
              <a:lnSpc>
                <a:spcPct val="112000"/>
              </a:lnSpc>
            </a:pPr>
            <a:r>
              <a:rPr sz="800" b="1" i="0" spc="120">
                <a:solidFill>
                  <a:srgbClr val="8A959F"/>
                </a:solidFill>
                <a:latin typeface="Arial"/>
                <a:cs typeface="Arial"/>
                <a:ea typeface="Arial"/>
              </a:rPr>
              <a:t>LANGUAGE MODEL   /   PROPOSES, READS, WRITES</a:t>
            </a:r>
          </a:p>
        </p:txBody>
      </p:sp>
      <p:sp>
        <p:nvSpPr>
          <p:cNvPr id="7" name="Rectangle 6"/>
          <p:cNvSpPr/>
          <p:nvPr/>
        </p:nvSpPr>
        <p:spPr>
          <a:xfrm>
            <a:off x="658368" y="2340864"/>
            <a:ext cx="10874959" cy="74980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8368" y="3401568"/>
            <a:ext cx="10874959" cy="201168"/>
          </a:xfrm>
          <a:prstGeom prst="rect">
            <a:avLst/>
          </a:prstGeom>
          <a:noFill/>
        </p:spPr>
        <p:txBody>
          <a:bodyPr wrap="square" lIns="0" rIns="0" tIns="0" bIns="0" anchor="t">
            <a:spAutoFit/>
          </a:bodyPr>
          <a:lstStyle/>
          <a:p>
            <a:pPr algn="ctr">
              <a:lnSpc>
                <a:spcPct val="112000"/>
              </a:lnSpc>
            </a:pPr>
            <a:r>
              <a:rPr sz="800" b="1" i="0" spc="120">
                <a:solidFill>
                  <a:srgbClr val="8A959F"/>
                </a:solidFill>
                <a:latin typeface="Arial"/>
                <a:cs typeface="Arial"/>
                <a:ea typeface="Arial"/>
              </a:rPr>
              <a:t>DETERMINISTIC   /   COMPUTES AND ADJUDICATES</a:t>
            </a:r>
          </a:p>
        </p:txBody>
      </p:sp>
      <p:sp>
        <p:nvSpPr>
          <p:cNvPr id="9" name="Rectangle 8"/>
          <p:cNvSpPr/>
          <p:nvPr/>
        </p:nvSpPr>
        <p:spPr>
          <a:xfrm>
            <a:off x="658368" y="3602736"/>
            <a:ext cx="10874959" cy="73152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3694176"/>
            <a:ext cx="1911095" cy="566928"/>
          </a:xfrm>
          <a:prstGeom prst="rect">
            <a:avLst/>
          </a:prstGeom>
          <a:solidFill>
            <a:srgbClr val="FFFFFF"/>
          </a:solidFill>
          <a:ln w="11430">
            <a:solidFill>
              <a:srgbClr val="4A58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3858768"/>
            <a:ext cx="1801367" cy="256032"/>
          </a:xfrm>
          <a:prstGeom prst="rect">
            <a:avLst/>
          </a:prstGeom>
          <a:noFill/>
        </p:spPr>
        <p:txBody>
          <a:bodyPr wrap="square" lIns="0" rIns="0" tIns="0" bIns="0" anchor="t">
            <a:spAutoFit/>
          </a:bodyPr>
          <a:lstStyle/>
          <a:p>
            <a:pPr algn="ctr">
              <a:lnSpc>
                <a:spcPct val="112000"/>
              </a:lnSpc>
            </a:pPr>
            <a:r>
              <a:rPr sz="1100" b="1" i="0">
                <a:solidFill>
                  <a:srgbClr val="131A22"/>
                </a:solidFill>
                <a:latin typeface="Arial"/>
                <a:cs typeface="Arial"/>
                <a:ea typeface="Arial"/>
              </a:rPr>
              <a:t>Signal Gate</a:t>
            </a:r>
          </a:p>
        </p:txBody>
      </p:sp>
      <p:sp>
        <p:nvSpPr>
          <p:cNvPr id="12" name="TextBox 11"/>
          <p:cNvSpPr txBox="1"/>
          <p:nvPr/>
        </p:nvSpPr>
        <p:spPr>
          <a:xfrm>
            <a:off x="658368" y="4425696"/>
            <a:ext cx="1911095" cy="512064"/>
          </a:xfrm>
          <a:prstGeom prst="rect">
            <a:avLst/>
          </a:prstGeom>
          <a:noFill/>
        </p:spPr>
        <p:txBody>
          <a:bodyPr wrap="square" lIns="0" rIns="0" tIns="0" bIns="0" anchor="t">
            <a:spAutoFit/>
          </a:bodyPr>
          <a:lstStyle/>
          <a:p>
            <a:pPr algn="ctr">
              <a:lnSpc>
                <a:spcPct val="120000"/>
              </a:lnSpc>
            </a:pPr>
            <a:r>
              <a:rPr sz="950" b="0" i="0">
                <a:solidFill>
                  <a:srgbClr val="4A5866"/>
                </a:solidFill>
                <a:latin typeface="Arial"/>
                <a:cs typeface="Arial"/>
                <a:ea typeface="Arial"/>
              </a:rPr>
              <a:t>Is the change real?</a:t>
            </a:r>
          </a:p>
        </p:txBody>
      </p:sp>
      <p:sp>
        <p:nvSpPr>
          <p:cNvPr id="13" name="Rectangle 12"/>
          <p:cNvSpPr/>
          <p:nvPr/>
        </p:nvSpPr>
        <p:spPr>
          <a:xfrm>
            <a:off x="2898648" y="3694176"/>
            <a:ext cx="1911095" cy="566928"/>
          </a:xfrm>
          <a:prstGeom prst="rect">
            <a:avLst/>
          </a:prstGeom>
          <a:solidFill>
            <a:srgbClr val="FFFFFF"/>
          </a:solidFill>
          <a:ln w="11430">
            <a:solidFill>
              <a:srgbClr val="4A58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953512" y="3858768"/>
            <a:ext cx="1801367" cy="256032"/>
          </a:xfrm>
          <a:prstGeom prst="rect">
            <a:avLst/>
          </a:prstGeom>
          <a:noFill/>
        </p:spPr>
        <p:txBody>
          <a:bodyPr wrap="square" lIns="0" rIns="0" tIns="0" bIns="0" anchor="t">
            <a:spAutoFit/>
          </a:bodyPr>
          <a:lstStyle/>
          <a:p>
            <a:pPr algn="ctr">
              <a:lnSpc>
                <a:spcPct val="112000"/>
              </a:lnSpc>
            </a:pPr>
            <a:r>
              <a:rPr sz="1100" b="1" i="0">
                <a:solidFill>
                  <a:srgbClr val="131A22"/>
                </a:solidFill>
                <a:latin typeface="Arial"/>
                <a:cs typeface="Arial"/>
                <a:ea typeface="Arial"/>
              </a:rPr>
              <a:t>Evidence Ledger</a:t>
            </a:r>
          </a:p>
        </p:txBody>
      </p:sp>
      <p:sp>
        <p:nvSpPr>
          <p:cNvPr id="15" name="TextBox 14"/>
          <p:cNvSpPr txBox="1"/>
          <p:nvPr/>
        </p:nvSpPr>
        <p:spPr>
          <a:xfrm>
            <a:off x="2898648" y="4425696"/>
            <a:ext cx="1911095" cy="512064"/>
          </a:xfrm>
          <a:prstGeom prst="rect">
            <a:avLst/>
          </a:prstGeom>
          <a:noFill/>
        </p:spPr>
        <p:txBody>
          <a:bodyPr wrap="square" lIns="0" rIns="0" tIns="0" bIns="0" anchor="t">
            <a:spAutoFit/>
          </a:bodyPr>
          <a:lstStyle/>
          <a:p>
            <a:pPr algn="ctr">
              <a:lnSpc>
                <a:spcPct val="120000"/>
              </a:lnSpc>
            </a:pPr>
            <a:r>
              <a:rPr sz="950" b="0" i="0">
                <a:solidFill>
                  <a:srgbClr val="4A5866"/>
                </a:solidFill>
                <a:latin typeface="Arial"/>
                <a:cs typeface="Arial"/>
                <a:ea typeface="Arial"/>
              </a:rPr>
              <a:t>What supports each hypothesis?</a:t>
            </a:r>
          </a:p>
        </p:txBody>
      </p:sp>
      <p:sp>
        <p:nvSpPr>
          <p:cNvPr id="16" name="Rectangle 15"/>
          <p:cNvSpPr/>
          <p:nvPr/>
        </p:nvSpPr>
        <p:spPr>
          <a:xfrm>
            <a:off x="5138927" y="3694176"/>
            <a:ext cx="1911095" cy="566928"/>
          </a:xfrm>
          <a:prstGeom prst="rect">
            <a:avLst/>
          </a:prstGeom>
          <a:solidFill>
            <a:srgbClr val="FFFFFF"/>
          </a:solidFill>
          <a:ln w="11430">
            <a:solidFill>
              <a:srgbClr val="4A58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93791" y="3858768"/>
            <a:ext cx="1801367" cy="256032"/>
          </a:xfrm>
          <a:prstGeom prst="rect">
            <a:avLst/>
          </a:prstGeom>
          <a:noFill/>
        </p:spPr>
        <p:txBody>
          <a:bodyPr wrap="square" lIns="0" rIns="0" tIns="0" bIns="0" anchor="t">
            <a:spAutoFit/>
          </a:bodyPr>
          <a:lstStyle/>
          <a:p>
            <a:pPr algn="ctr">
              <a:lnSpc>
                <a:spcPct val="112000"/>
              </a:lnSpc>
            </a:pPr>
            <a:r>
              <a:rPr sz="1100" b="1" i="0">
                <a:solidFill>
                  <a:srgbClr val="131A22"/>
                </a:solidFill>
                <a:latin typeface="Arial"/>
                <a:cs typeface="Arial"/>
                <a:ea typeface="Arial"/>
              </a:rPr>
              <a:t>Causal Engine</a:t>
            </a:r>
          </a:p>
        </p:txBody>
      </p:sp>
      <p:sp>
        <p:nvSpPr>
          <p:cNvPr id="18" name="TextBox 17"/>
          <p:cNvSpPr txBox="1"/>
          <p:nvPr/>
        </p:nvSpPr>
        <p:spPr>
          <a:xfrm>
            <a:off x="5138927" y="4425696"/>
            <a:ext cx="1911095" cy="512064"/>
          </a:xfrm>
          <a:prstGeom prst="rect">
            <a:avLst/>
          </a:prstGeom>
          <a:noFill/>
        </p:spPr>
        <p:txBody>
          <a:bodyPr wrap="square" lIns="0" rIns="0" tIns="0" bIns="0" anchor="t">
            <a:spAutoFit/>
          </a:bodyPr>
          <a:lstStyle/>
          <a:p>
            <a:pPr algn="ctr">
              <a:lnSpc>
                <a:spcPct val="120000"/>
              </a:lnSpc>
            </a:pPr>
            <a:r>
              <a:rPr sz="950" b="0" i="0">
                <a:solidFill>
                  <a:srgbClr val="4A5866"/>
                </a:solidFill>
                <a:latin typeface="Arial"/>
                <a:cs typeface="Arial"/>
                <a:ea typeface="Arial"/>
              </a:rPr>
              <a:t>What can we actually claim?</a:t>
            </a:r>
          </a:p>
        </p:txBody>
      </p:sp>
      <p:sp>
        <p:nvSpPr>
          <p:cNvPr id="19" name="Rectangle 18"/>
          <p:cNvSpPr/>
          <p:nvPr/>
        </p:nvSpPr>
        <p:spPr>
          <a:xfrm>
            <a:off x="7379208" y="3694176"/>
            <a:ext cx="1911095" cy="566928"/>
          </a:xfrm>
          <a:prstGeom prst="rect">
            <a:avLst/>
          </a:prstGeom>
          <a:solidFill>
            <a:srgbClr val="FFFFFF"/>
          </a:solidFill>
          <a:ln w="11430">
            <a:solidFill>
              <a:srgbClr val="4A58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34072" y="3858768"/>
            <a:ext cx="1801367" cy="256032"/>
          </a:xfrm>
          <a:prstGeom prst="rect">
            <a:avLst/>
          </a:prstGeom>
          <a:noFill/>
        </p:spPr>
        <p:txBody>
          <a:bodyPr wrap="square" lIns="0" rIns="0" tIns="0" bIns="0" anchor="t">
            <a:spAutoFit/>
          </a:bodyPr>
          <a:lstStyle/>
          <a:p>
            <a:pPr algn="ctr">
              <a:lnSpc>
                <a:spcPct val="112000"/>
              </a:lnSpc>
            </a:pPr>
            <a:r>
              <a:rPr sz="1100" b="1" i="0">
                <a:solidFill>
                  <a:srgbClr val="131A22"/>
                </a:solidFill>
                <a:latin typeface="Arial"/>
                <a:cs typeface="Arial"/>
                <a:ea typeface="Arial"/>
              </a:rPr>
              <a:t>Verdict + Test</a:t>
            </a:r>
          </a:p>
        </p:txBody>
      </p:sp>
      <p:sp>
        <p:nvSpPr>
          <p:cNvPr id="21" name="TextBox 20"/>
          <p:cNvSpPr txBox="1"/>
          <p:nvPr/>
        </p:nvSpPr>
        <p:spPr>
          <a:xfrm>
            <a:off x="7379208" y="4425696"/>
            <a:ext cx="1911095" cy="512064"/>
          </a:xfrm>
          <a:prstGeom prst="rect">
            <a:avLst/>
          </a:prstGeom>
          <a:noFill/>
        </p:spPr>
        <p:txBody>
          <a:bodyPr wrap="square" lIns="0" rIns="0" tIns="0" bIns="0" anchor="t">
            <a:spAutoFit/>
          </a:bodyPr>
          <a:lstStyle/>
          <a:p>
            <a:pPr algn="ctr">
              <a:lnSpc>
                <a:spcPct val="120000"/>
              </a:lnSpc>
            </a:pPr>
            <a:r>
              <a:rPr sz="950" b="0" i="0">
                <a:solidFill>
                  <a:srgbClr val="4A5866"/>
                </a:solidFill>
                <a:latin typeface="Arial"/>
                <a:cs typeface="Arial"/>
                <a:ea typeface="Arial"/>
              </a:rPr>
              <a:t>Act, or design the most informative experiment.</a:t>
            </a:r>
          </a:p>
        </p:txBody>
      </p:sp>
      <p:sp>
        <p:nvSpPr>
          <p:cNvPr id="22" name="Rectangle 21"/>
          <p:cNvSpPr/>
          <p:nvPr/>
        </p:nvSpPr>
        <p:spPr>
          <a:xfrm>
            <a:off x="9619488" y="3694176"/>
            <a:ext cx="1911095" cy="566928"/>
          </a:xfrm>
          <a:prstGeom prst="rect">
            <a:avLst/>
          </a:prstGeom>
          <a:solidFill>
            <a:srgbClr val="FFFFFF"/>
          </a:solidFill>
          <a:ln w="11430">
            <a:solidFill>
              <a:srgbClr val="4A58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674352" y="3858768"/>
            <a:ext cx="1801367" cy="256032"/>
          </a:xfrm>
          <a:prstGeom prst="rect">
            <a:avLst/>
          </a:prstGeom>
          <a:noFill/>
        </p:spPr>
        <p:txBody>
          <a:bodyPr wrap="square" lIns="0" rIns="0" tIns="0" bIns="0" anchor="t">
            <a:spAutoFit/>
          </a:bodyPr>
          <a:lstStyle/>
          <a:p>
            <a:pPr algn="ctr">
              <a:lnSpc>
                <a:spcPct val="112000"/>
              </a:lnSpc>
            </a:pPr>
            <a:r>
              <a:rPr sz="1100" b="1" i="0">
                <a:solidFill>
                  <a:srgbClr val="131A22"/>
                </a:solidFill>
                <a:latin typeface="Arial"/>
                <a:cs typeface="Arial"/>
                <a:ea typeface="Arial"/>
              </a:rPr>
              <a:t>Outcome Ledger</a:t>
            </a:r>
          </a:p>
        </p:txBody>
      </p:sp>
      <p:sp>
        <p:nvSpPr>
          <p:cNvPr id="24" name="TextBox 23"/>
          <p:cNvSpPr txBox="1"/>
          <p:nvPr/>
        </p:nvSpPr>
        <p:spPr>
          <a:xfrm>
            <a:off x="9619488" y="4425696"/>
            <a:ext cx="1911095" cy="512064"/>
          </a:xfrm>
          <a:prstGeom prst="rect">
            <a:avLst/>
          </a:prstGeom>
          <a:noFill/>
        </p:spPr>
        <p:txBody>
          <a:bodyPr wrap="square" lIns="0" rIns="0" tIns="0" bIns="0" anchor="t">
            <a:spAutoFit/>
          </a:bodyPr>
          <a:lstStyle/>
          <a:p>
            <a:pPr algn="ctr">
              <a:lnSpc>
                <a:spcPct val="120000"/>
              </a:lnSpc>
            </a:pPr>
            <a:r>
              <a:rPr sz="950" b="0" i="0">
                <a:solidFill>
                  <a:srgbClr val="4A5866"/>
                </a:solidFill>
                <a:latin typeface="Arial"/>
                <a:cs typeface="Arial"/>
                <a:ea typeface="Arial"/>
              </a:rPr>
              <a:t>Did the decision work?</a:t>
            </a:r>
          </a:p>
        </p:txBody>
      </p:sp>
      <p:cxnSp>
        <p:nvCxnSpPr>
          <p:cNvPr id="25" name="Connector 24"/>
          <p:cNvCxnSpPr/>
          <p:nvPr/>
        </p:nvCxnSpPr>
        <p:spPr>
          <a:xfrm>
            <a:off x="2596895" y="3977639"/>
            <a:ext cx="274321" cy="0"/>
          </a:xfrm>
          <a:prstGeom prst="line">
            <a:avLst/>
          </a:prstGeom>
          <a:ln w="11430">
            <a:solidFill>
              <a:srgbClr val="8A95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837176" y="3977639"/>
            <a:ext cx="274319" cy="0"/>
          </a:xfrm>
          <a:prstGeom prst="line">
            <a:avLst/>
          </a:prstGeom>
          <a:ln w="11430">
            <a:solidFill>
              <a:srgbClr val="8A95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077455" y="3977639"/>
            <a:ext cx="274321" cy="0"/>
          </a:xfrm>
          <a:prstGeom prst="line">
            <a:avLst/>
          </a:prstGeom>
          <a:ln w="11430">
            <a:solidFill>
              <a:srgbClr val="8A95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317736" y="3977639"/>
            <a:ext cx="274320" cy="0"/>
          </a:xfrm>
          <a:prstGeom prst="line">
            <a:avLst/>
          </a:prstGeom>
          <a:ln w="11430">
            <a:solidFill>
              <a:srgbClr val="8A959F"/>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58368" y="2432304"/>
            <a:ext cx="1911095" cy="566928"/>
          </a:xfrm>
          <a:prstGeom prst="rect">
            <a:avLst/>
          </a:prstGeom>
          <a:solidFill>
            <a:srgbClr val="FFFFFF"/>
          </a:solidFill>
          <a:ln w="11430">
            <a:solidFill>
              <a:srgbClr val="4A58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13232" y="2596896"/>
            <a:ext cx="1801367" cy="256032"/>
          </a:xfrm>
          <a:prstGeom prst="rect">
            <a:avLst/>
          </a:prstGeom>
          <a:noFill/>
        </p:spPr>
        <p:txBody>
          <a:bodyPr wrap="square" lIns="0" rIns="0" tIns="0" bIns="0" anchor="t">
            <a:spAutoFit/>
          </a:bodyPr>
          <a:lstStyle/>
          <a:p>
            <a:pPr algn="ctr">
              <a:lnSpc>
                <a:spcPct val="112000"/>
              </a:lnSpc>
            </a:pPr>
            <a:r>
              <a:rPr sz="1100" b="1" i="0">
                <a:solidFill>
                  <a:srgbClr val="131A22"/>
                </a:solidFill>
                <a:latin typeface="Arial"/>
                <a:cs typeface="Arial"/>
                <a:ea typeface="Arial"/>
              </a:rPr>
              <a:t>Hypotheses</a:t>
            </a:r>
          </a:p>
        </p:txBody>
      </p:sp>
      <p:sp>
        <p:nvSpPr>
          <p:cNvPr id="31" name="Rectangle 30"/>
          <p:cNvSpPr/>
          <p:nvPr/>
        </p:nvSpPr>
        <p:spPr>
          <a:xfrm>
            <a:off x="2898648" y="2432304"/>
            <a:ext cx="1911095" cy="566928"/>
          </a:xfrm>
          <a:prstGeom prst="rect">
            <a:avLst/>
          </a:prstGeom>
          <a:solidFill>
            <a:srgbClr val="FFFFFF"/>
          </a:solidFill>
          <a:ln w="11430">
            <a:solidFill>
              <a:srgbClr val="4A58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2953512" y="2596896"/>
            <a:ext cx="1801367" cy="256032"/>
          </a:xfrm>
          <a:prstGeom prst="rect">
            <a:avLst/>
          </a:prstGeom>
          <a:noFill/>
        </p:spPr>
        <p:txBody>
          <a:bodyPr wrap="square" lIns="0" rIns="0" tIns="0" bIns="0" anchor="t">
            <a:spAutoFit/>
          </a:bodyPr>
          <a:lstStyle/>
          <a:p>
            <a:pPr algn="ctr">
              <a:lnSpc>
                <a:spcPct val="112000"/>
              </a:lnSpc>
            </a:pPr>
            <a:r>
              <a:rPr sz="1100" b="1" i="0">
                <a:solidFill>
                  <a:srgbClr val="131A22"/>
                </a:solidFill>
                <a:latin typeface="Arial"/>
                <a:cs typeface="Arial"/>
                <a:ea typeface="Arial"/>
              </a:rPr>
              <a:t>Claims from text</a:t>
            </a:r>
          </a:p>
        </p:txBody>
      </p:sp>
      <p:sp>
        <p:nvSpPr>
          <p:cNvPr id="33" name="Rectangle 32"/>
          <p:cNvSpPr/>
          <p:nvPr/>
        </p:nvSpPr>
        <p:spPr>
          <a:xfrm>
            <a:off x="9619488" y="2432304"/>
            <a:ext cx="1911095" cy="566928"/>
          </a:xfrm>
          <a:prstGeom prst="rect">
            <a:avLst/>
          </a:prstGeom>
          <a:solidFill>
            <a:srgbClr val="FFFFFF"/>
          </a:solidFill>
          <a:ln w="11430">
            <a:solidFill>
              <a:srgbClr val="4A58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674352" y="2596896"/>
            <a:ext cx="1801367" cy="256032"/>
          </a:xfrm>
          <a:prstGeom prst="rect">
            <a:avLst/>
          </a:prstGeom>
          <a:noFill/>
        </p:spPr>
        <p:txBody>
          <a:bodyPr wrap="square" lIns="0" rIns="0" tIns="0" bIns="0" anchor="t">
            <a:spAutoFit/>
          </a:bodyPr>
          <a:lstStyle/>
          <a:p>
            <a:pPr algn="ctr">
              <a:lnSpc>
                <a:spcPct val="112000"/>
              </a:lnSpc>
            </a:pPr>
            <a:r>
              <a:rPr sz="1100" b="1" i="0">
                <a:solidFill>
                  <a:srgbClr val="131A22"/>
                </a:solidFill>
                <a:latin typeface="Arial"/>
                <a:cs typeface="Arial"/>
                <a:ea typeface="Arial"/>
              </a:rPr>
              <a:t>Story writer</a:t>
            </a:r>
          </a:p>
        </p:txBody>
      </p:sp>
      <p:cxnSp>
        <p:nvCxnSpPr>
          <p:cNvPr id="35" name="Connector 34"/>
          <p:cNvCxnSpPr/>
          <p:nvPr/>
        </p:nvCxnSpPr>
        <p:spPr>
          <a:xfrm>
            <a:off x="1613916" y="3017520"/>
            <a:ext cx="0" cy="658367"/>
          </a:xfrm>
          <a:prstGeom prst="line">
            <a:avLst/>
          </a:prstGeom>
          <a:ln w="12700">
            <a:solidFill>
              <a:srgbClr val="4A586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854196" y="3017520"/>
            <a:ext cx="0" cy="658367"/>
          </a:xfrm>
          <a:prstGeom prst="line">
            <a:avLst/>
          </a:prstGeom>
          <a:ln w="12700">
            <a:solidFill>
              <a:srgbClr val="4A586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334756" y="3035808"/>
            <a:ext cx="1965959" cy="640079"/>
          </a:xfrm>
          <a:prstGeom prst="line">
            <a:avLst/>
          </a:prstGeom>
          <a:ln w="17780">
            <a:solidFill>
              <a:srgbClr val="A9660A"/>
            </a:solidFill>
            <a:tailEnd type="triangle" w="sm" len="sm"/>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321807" y="3127248"/>
            <a:ext cx="2377440" cy="219456"/>
          </a:xfrm>
          <a:prstGeom prst="rect">
            <a:avLst/>
          </a:prstGeom>
          <a:noFill/>
        </p:spPr>
        <p:txBody>
          <a:bodyPr wrap="square" lIns="0" rIns="0" tIns="0" bIns="0" anchor="t">
            <a:spAutoFit/>
          </a:bodyPr>
          <a:lstStyle/>
          <a:p>
            <a:pPr algn="r">
              <a:lnSpc>
                <a:spcPct val="112000"/>
              </a:lnSpc>
            </a:pPr>
            <a:r>
              <a:rPr sz="850" b="1" i="0">
                <a:solidFill>
                  <a:srgbClr val="A9660A"/>
                </a:solidFill>
                <a:latin typeface="Arial"/>
                <a:cs typeface="Arial"/>
                <a:ea typeface="Arial"/>
              </a:rPr>
              <a:t>numbers frozen before writing</a:t>
            </a:r>
          </a:p>
        </p:txBody>
      </p:sp>
      <p:sp>
        <p:nvSpPr>
          <p:cNvPr id="39" name="TextBox 38"/>
          <p:cNvSpPr txBox="1"/>
          <p:nvPr/>
        </p:nvSpPr>
        <p:spPr>
          <a:xfrm>
            <a:off x="658368" y="5084064"/>
            <a:ext cx="6400800" cy="201168"/>
          </a:xfrm>
          <a:prstGeom prst="rect">
            <a:avLst/>
          </a:prstGeom>
          <a:noFill/>
        </p:spPr>
        <p:txBody>
          <a:bodyPr wrap="square" lIns="0" rIns="0" tIns="0" bIns="0" anchor="t">
            <a:spAutoFit/>
          </a:bodyPr>
          <a:lstStyle/>
          <a:p>
            <a:pPr algn="l">
              <a:lnSpc>
                <a:spcPct val="112000"/>
              </a:lnSpc>
            </a:pPr>
            <a:r>
              <a:rPr sz="800" b="1" i="0" spc="120">
                <a:solidFill>
                  <a:srgbClr val="8A959F"/>
                </a:solidFill>
                <a:latin typeface="Arial"/>
                <a:cs typeface="Arial"/>
                <a:ea typeface="Arial"/>
              </a:rPr>
              <a:t>PROOF LADDER</a:t>
            </a:r>
          </a:p>
        </p:txBody>
      </p:sp>
      <p:sp>
        <p:nvSpPr>
          <p:cNvPr id="40" name="Rectangle 39"/>
          <p:cNvSpPr/>
          <p:nvPr/>
        </p:nvSpPr>
        <p:spPr>
          <a:xfrm>
            <a:off x="658368" y="5321808"/>
            <a:ext cx="1225296" cy="91440"/>
          </a:xfrm>
          <a:prstGeom prst="rect">
            <a:avLst/>
          </a:prstGeom>
          <a:solidFill>
            <a:srgbClr val="7985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58368" y="5468112"/>
            <a:ext cx="1225296" cy="402336"/>
          </a:xfrm>
          <a:prstGeom prst="rect">
            <a:avLst/>
          </a:prstGeom>
          <a:noFill/>
        </p:spPr>
        <p:txBody>
          <a:bodyPr wrap="square" lIns="0" rIns="0" tIns="0" bIns="0" anchor="t">
            <a:spAutoFit/>
          </a:bodyPr>
          <a:lstStyle/>
          <a:p>
            <a:pPr algn="l">
              <a:lnSpc>
                <a:spcPct val="112000"/>
              </a:lnSpc>
              <a:spcAft>
                <a:spcPts val="100"/>
              </a:spcAft>
            </a:pPr>
            <a:r>
              <a:rPr sz="950" b="1" i="0">
                <a:solidFill>
                  <a:srgbClr val="79858F"/>
                </a:solidFill>
                <a:latin typeface="Arial"/>
                <a:cs typeface="Arial"/>
                <a:ea typeface="Arial"/>
              </a:rPr>
              <a:t>R0</a:t>
            </a:r>
          </a:p>
          <a:p>
            <a:pPr algn="l">
              <a:lnSpc>
                <a:spcPct val="112000"/>
              </a:lnSpc>
            </a:pPr>
            <a:r>
              <a:rPr sz="850" b="0" i="0">
                <a:solidFill>
                  <a:srgbClr val="4A5866"/>
                </a:solidFill>
                <a:latin typeface="Arial"/>
                <a:cs typeface="Arial"/>
                <a:ea typeface="Arial"/>
              </a:rPr>
              <a:t>Arithmetic</a:t>
            </a:r>
          </a:p>
        </p:txBody>
      </p:sp>
      <p:sp>
        <p:nvSpPr>
          <p:cNvPr id="42" name="Rectangle 41"/>
          <p:cNvSpPr/>
          <p:nvPr/>
        </p:nvSpPr>
        <p:spPr>
          <a:xfrm>
            <a:off x="1938528" y="5321808"/>
            <a:ext cx="1225296" cy="91440"/>
          </a:xfrm>
          <a:prstGeom prst="rect">
            <a:avLst/>
          </a:prstGeom>
          <a:solidFill>
            <a:srgbClr val="547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938528" y="5468112"/>
            <a:ext cx="1225296" cy="402336"/>
          </a:xfrm>
          <a:prstGeom prst="rect">
            <a:avLst/>
          </a:prstGeom>
          <a:noFill/>
        </p:spPr>
        <p:txBody>
          <a:bodyPr wrap="square" lIns="0" rIns="0" tIns="0" bIns="0" anchor="t">
            <a:spAutoFit/>
          </a:bodyPr>
          <a:lstStyle/>
          <a:p>
            <a:pPr algn="l">
              <a:lnSpc>
                <a:spcPct val="112000"/>
              </a:lnSpc>
              <a:spcAft>
                <a:spcPts val="100"/>
              </a:spcAft>
            </a:pPr>
            <a:r>
              <a:rPr sz="950" b="1" i="0">
                <a:solidFill>
                  <a:srgbClr val="54748A"/>
                </a:solidFill>
                <a:latin typeface="Arial"/>
                <a:cs typeface="Arial"/>
                <a:ea typeface="Arial"/>
              </a:rPr>
              <a:t>R1</a:t>
            </a:r>
          </a:p>
          <a:p>
            <a:pPr algn="l">
              <a:lnSpc>
                <a:spcPct val="112000"/>
              </a:lnSpc>
            </a:pPr>
            <a:r>
              <a:rPr sz="850" b="0" i="0">
                <a:solidFill>
                  <a:srgbClr val="4A5866"/>
                </a:solidFill>
                <a:latin typeface="Arial"/>
                <a:cs typeface="Arial"/>
                <a:ea typeface="Arial"/>
              </a:rPr>
              <a:t>Association</a:t>
            </a:r>
          </a:p>
        </p:txBody>
      </p:sp>
      <p:sp>
        <p:nvSpPr>
          <p:cNvPr id="44" name="Rectangle 43"/>
          <p:cNvSpPr/>
          <p:nvPr/>
        </p:nvSpPr>
        <p:spPr>
          <a:xfrm>
            <a:off x="3218688" y="5321808"/>
            <a:ext cx="1225296" cy="91440"/>
          </a:xfrm>
          <a:prstGeom prst="rect">
            <a:avLst/>
          </a:prstGeom>
          <a:solidFill>
            <a:srgbClr val="3364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218688" y="5468112"/>
            <a:ext cx="1225296" cy="402336"/>
          </a:xfrm>
          <a:prstGeom prst="rect">
            <a:avLst/>
          </a:prstGeom>
          <a:noFill/>
        </p:spPr>
        <p:txBody>
          <a:bodyPr wrap="square" lIns="0" rIns="0" tIns="0" bIns="0" anchor="t">
            <a:spAutoFit/>
          </a:bodyPr>
          <a:lstStyle/>
          <a:p>
            <a:pPr algn="l">
              <a:lnSpc>
                <a:spcPct val="112000"/>
              </a:lnSpc>
              <a:spcAft>
                <a:spcPts val="100"/>
              </a:spcAft>
            </a:pPr>
            <a:r>
              <a:rPr sz="950" b="1" i="0">
                <a:solidFill>
                  <a:srgbClr val="336480"/>
                </a:solidFill>
                <a:latin typeface="Arial"/>
                <a:cs typeface="Arial"/>
                <a:ea typeface="Arial"/>
              </a:rPr>
              <a:t>R2</a:t>
            </a:r>
          </a:p>
          <a:p>
            <a:pPr algn="l">
              <a:lnSpc>
                <a:spcPct val="112000"/>
              </a:lnSpc>
            </a:pPr>
            <a:r>
              <a:rPr sz="850" b="0" i="0">
                <a:solidFill>
                  <a:srgbClr val="4A5866"/>
                </a:solidFill>
                <a:latin typeface="Arial"/>
                <a:cs typeface="Arial"/>
                <a:ea typeface="Arial"/>
              </a:rPr>
              <a:t>Temporal</a:t>
            </a:r>
          </a:p>
        </p:txBody>
      </p:sp>
      <p:sp>
        <p:nvSpPr>
          <p:cNvPr id="46" name="Rectangle 45"/>
          <p:cNvSpPr/>
          <p:nvPr/>
        </p:nvSpPr>
        <p:spPr>
          <a:xfrm>
            <a:off x="4498848" y="5321808"/>
            <a:ext cx="1225296" cy="91440"/>
          </a:xfrm>
          <a:prstGeom prst="rect">
            <a:avLst/>
          </a:prstGeom>
          <a:solidFill>
            <a:srgbClr val="13606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498848" y="5468112"/>
            <a:ext cx="1225296" cy="402336"/>
          </a:xfrm>
          <a:prstGeom prst="rect">
            <a:avLst/>
          </a:prstGeom>
          <a:noFill/>
        </p:spPr>
        <p:txBody>
          <a:bodyPr wrap="square" lIns="0" rIns="0" tIns="0" bIns="0" anchor="t">
            <a:spAutoFit/>
          </a:bodyPr>
          <a:lstStyle/>
          <a:p>
            <a:pPr algn="l">
              <a:lnSpc>
                <a:spcPct val="112000"/>
              </a:lnSpc>
              <a:spcAft>
                <a:spcPts val="100"/>
              </a:spcAft>
            </a:pPr>
            <a:r>
              <a:rPr sz="950" b="1" i="0">
                <a:solidFill>
                  <a:srgbClr val="136065"/>
                </a:solidFill>
                <a:latin typeface="Arial"/>
                <a:cs typeface="Arial"/>
                <a:ea typeface="Arial"/>
              </a:rPr>
              <a:t>R3</a:t>
            </a:r>
          </a:p>
          <a:p>
            <a:pPr algn="l">
              <a:lnSpc>
                <a:spcPct val="112000"/>
              </a:lnSpc>
            </a:pPr>
            <a:r>
              <a:rPr sz="850" b="0" i="0">
                <a:solidFill>
                  <a:srgbClr val="4A5866"/>
                </a:solidFill>
                <a:latin typeface="Arial"/>
                <a:cs typeface="Arial"/>
                <a:ea typeface="Arial"/>
              </a:rPr>
              <a:t>Quasi-experimental</a:t>
            </a:r>
          </a:p>
        </p:txBody>
      </p:sp>
      <p:sp>
        <p:nvSpPr>
          <p:cNvPr id="48" name="Rectangle 47"/>
          <p:cNvSpPr/>
          <p:nvPr/>
        </p:nvSpPr>
        <p:spPr>
          <a:xfrm>
            <a:off x="5779008" y="5321808"/>
            <a:ext cx="1225296" cy="91440"/>
          </a:xfrm>
          <a:prstGeom prst="rect">
            <a:avLst/>
          </a:prstGeom>
          <a:solidFill>
            <a:srgbClr val="0A6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5779008" y="5468112"/>
            <a:ext cx="1225296" cy="402336"/>
          </a:xfrm>
          <a:prstGeom prst="rect">
            <a:avLst/>
          </a:prstGeom>
          <a:noFill/>
        </p:spPr>
        <p:txBody>
          <a:bodyPr wrap="square" lIns="0" rIns="0" tIns="0" bIns="0" anchor="t">
            <a:spAutoFit/>
          </a:bodyPr>
          <a:lstStyle/>
          <a:p>
            <a:pPr algn="l">
              <a:lnSpc>
                <a:spcPct val="112000"/>
              </a:lnSpc>
              <a:spcAft>
                <a:spcPts val="100"/>
              </a:spcAft>
            </a:pPr>
            <a:r>
              <a:rPr sz="950" b="1" i="0">
                <a:solidFill>
                  <a:srgbClr val="0A6B4F"/>
                </a:solidFill>
                <a:latin typeface="Arial"/>
                <a:cs typeface="Arial"/>
                <a:ea typeface="Arial"/>
              </a:rPr>
              <a:t>R4</a:t>
            </a:r>
          </a:p>
          <a:p>
            <a:pPr algn="l">
              <a:lnSpc>
                <a:spcPct val="112000"/>
              </a:lnSpc>
            </a:pPr>
            <a:r>
              <a:rPr sz="850" b="0" i="0">
                <a:solidFill>
                  <a:srgbClr val="4A5866"/>
                </a:solidFill>
                <a:latin typeface="Arial"/>
                <a:cs typeface="Arial"/>
                <a:ea typeface="Arial"/>
              </a:rPr>
              <a:t>Measured</a:t>
            </a:r>
          </a:p>
        </p:txBody>
      </p:sp>
      <p:sp>
        <p:nvSpPr>
          <p:cNvPr id="50" name="TextBox 49"/>
          <p:cNvSpPr txBox="1"/>
          <p:nvPr/>
        </p:nvSpPr>
        <p:spPr>
          <a:xfrm>
            <a:off x="7360920" y="5303520"/>
            <a:ext cx="4169663" cy="640080"/>
          </a:xfrm>
          <a:prstGeom prst="rect">
            <a:avLst/>
          </a:prstGeom>
          <a:noFill/>
        </p:spPr>
        <p:txBody>
          <a:bodyPr wrap="square" lIns="0" rIns="0" tIns="0" bIns="0" anchor="t">
            <a:spAutoFit/>
          </a:bodyPr>
          <a:lstStyle/>
          <a:p>
            <a:pPr algn="l">
              <a:lnSpc>
                <a:spcPct val="112000"/>
              </a:lnSpc>
              <a:spcAft>
                <a:spcPts val="400"/>
              </a:spcAft>
            </a:pPr>
            <a:r>
              <a:rPr sz="1300" b="1" i="0">
                <a:solidFill>
                  <a:srgbClr val="131A22"/>
                </a:solidFill>
                <a:latin typeface="Arial"/>
                <a:cs typeface="Arial"/>
                <a:ea typeface="Arial"/>
              </a:rPr>
              <a:t>Evidence determines language.</a:t>
            </a:r>
          </a:p>
          <a:p>
            <a:pPr algn="l">
              <a:lnSpc>
                <a:spcPct val="112000"/>
              </a:lnSpc>
            </a:pPr>
            <a:r>
              <a:rPr sz="1150" b="0" i="0">
                <a:solidFill>
                  <a:srgbClr val="4A5866"/>
                </a:solidFill>
                <a:latin typeface="Arial"/>
                <a:cs typeface="Arial"/>
                <a:ea typeface="Arial"/>
              </a:rPr>
              <a:t>The word “caused” is unavailable below R3.</a:t>
            </a:r>
          </a:p>
        </p:txBody>
      </p:sp>
      <p:sp>
        <p:nvSpPr>
          <p:cNvPr id="51" name="TextBox 50"/>
          <p:cNvSpPr txBox="1"/>
          <p:nvPr/>
        </p:nvSpPr>
        <p:spPr>
          <a:xfrm>
            <a:off x="658368" y="6419088"/>
            <a:ext cx="3657600" cy="219456"/>
          </a:xfrm>
          <a:prstGeom prst="rect">
            <a:avLst/>
          </a:prstGeom>
          <a:noFill/>
        </p:spPr>
        <p:txBody>
          <a:bodyPr wrap="square" lIns="0" rIns="0" tIns="0" bIns="0" anchor="t">
            <a:spAutoFit/>
          </a:bodyPr>
          <a:lstStyle/>
          <a:p>
            <a:pPr algn="l">
              <a:lnSpc>
                <a:spcPct val="112000"/>
              </a:lnSpc>
            </a:pPr>
            <a:r>
              <a:rPr sz="850" b="1" i="0">
                <a:solidFill>
                  <a:srgbClr val="131A22"/>
                </a:solidFill>
                <a:latin typeface="Arial"/>
                <a:cs typeface="Arial"/>
                <a:ea typeface="Arial"/>
              </a:rPr>
              <a:t>CaseFile</a:t>
            </a:r>
            <a:r>
              <a:rPr sz="850" b="0" i="0">
                <a:solidFill>
                  <a:srgbClr val="8A959F"/>
                </a:solidFill>
                <a:latin typeface="Arial"/>
                <a:cs typeface="Arial"/>
                <a:ea typeface="Arial"/>
              </a:rPr>
              <a:t>   the number is where the investigation starts</a:t>
            </a:r>
          </a:p>
        </p:txBody>
      </p:sp>
      <p:sp>
        <p:nvSpPr>
          <p:cNvPr id="52" name="TextBox 51"/>
          <p:cNvSpPr txBox="1"/>
          <p:nvPr/>
        </p:nvSpPr>
        <p:spPr>
          <a:xfrm>
            <a:off x="9704527" y="6419088"/>
            <a:ext cx="1828800" cy="219456"/>
          </a:xfrm>
          <a:prstGeom prst="rect">
            <a:avLst/>
          </a:prstGeom>
          <a:noFill/>
        </p:spPr>
        <p:txBody>
          <a:bodyPr wrap="square" lIns="0" rIns="0" tIns="0" bIns="0" anchor="t">
            <a:spAutoFit/>
          </a:bodyPr>
          <a:lstStyle/>
          <a:p>
            <a:pPr algn="r">
              <a:lnSpc>
                <a:spcPct val="112000"/>
              </a:lnSpc>
            </a:pPr>
            <a:r>
              <a:rPr sz="850" b="0" i="0">
                <a:solidFill>
                  <a:srgbClr val="8A959F"/>
                </a:solidFill>
                <a:latin typeface="Arial"/>
                <a:cs typeface="Arial"/>
                <a:ea typeface="Arial"/>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65760"/>
            <a:ext cx="10874959" cy="256032"/>
          </a:xfrm>
          <a:prstGeom prst="rect">
            <a:avLst/>
          </a:prstGeom>
          <a:noFill/>
        </p:spPr>
        <p:txBody>
          <a:bodyPr wrap="square" lIns="0" rIns="0" tIns="0" bIns="0" anchor="t">
            <a:spAutoFit/>
          </a:bodyPr>
          <a:lstStyle/>
          <a:p>
            <a:pPr algn="l">
              <a:lnSpc>
                <a:spcPct val="112000"/>
              </a:lnSpc>
            </a:pPr>
            <a:r>
              <a:rPr sz="850" b="1" i="0" spc="160">
                <a:solidFill>
                  <a:srgbClr val="8A959F"/>
                </a:solidFill>
                <a:latin typeface="Arial"/>
                <a:cs typeface="Arial"/>
                <a:ea typeface="Arial"/>
              </a:rPr>
              <a:t>3  WHY IT MATTERS</a:t>
            </a:r>
          </a:p>
        </p:txBody>
      </p:sp>
      <p:sp>
        <p:nvSpPr>
          <p:cNvPr id="3" name="TextBox 2"/>
          <p:cNvSpPr txBox="1"/>
          <p:nvPr/>
        </p:nvSpPr>
        <p:spPr>
          <a:xfrm>
            <a:off x="658368" y="658368"/>
            <a:ext cx="10509199" cy="932688"/>
          </a:xfrm>
          <a:prstGeom prst="rect">
            <a:avLst/>
          </a:prstGeom>
          <a:noFill/>
        </p:spPr>
        <p:txBody>
          <a:bodyPr wrap="square" lIns="0" rIns="0" tIns="0" bIns="0" anchor="t">
            <a:spAutoFit/>
          </a:bodyPr>
          <a:lstStyle/>
          <a:p>
            <a:pPr algn="l">
              <a:lnSpc>
                <a:spcPct val="102000"/>
              </a:lnSpc>
            </a:pPr>
            <a:r>
              <a:rPr sz="2700" b="1" i="0">
                <a:solidFill>
                  <a:srgbClr val="131A22"/>
                </a:solidFill>
                <a:latin typeface="Arial"/>
                <a:cs typeface="Arial"/>
                <a:ea typeface="Arial"/>
              </a:rPr>
              <a:t>We don't optimize for explanations. We optimize for correct decisions.</a:t>
            </a:r>
          </a:p>
        </p:txBody>
      </p:sp>
      <p:sp>
        <p:nvSpPr>
          <p:cNvPr id="4" name="TextBox 3"/>
          <p:cNvSpPr txBox="1"/>
          <p:nvPr/>
        </p:nvSpPr>
        <p:spPr>
          <a:xfrm>
            <a:off x="658368" y="1645920"/>
            <a:ext cx="10509199" cy="310896"/>
          </a:xfrm>
          <a:prstGeom prst="rect">
            <a:avLst/>
          </a:prstGeom>
          <a:noFill/>
        </p:spPr>
        <p:txBody>
          <a:bodyPr wrap="square" lIns="0" rIns="0" tIns="0" bIns="0" anchor="t">
            <a:spAutoFit/>
          </a:bodyPr>
          <a:lstStyle/>
          <a:p>
            <a:pPr algn="l">
              <a:lnSpc>
                <a:spcPct val="112000"/>
              </a:lnSpc>
            </a:pPr>
            <a:r>
              <a:rPr sz="1450" b="0" i="0">
                <a:solidFill>
                  <a:srgbClr val="4A5866"/>
                </a:solidFill>
                <a:latin typeface="Arial"/>
                <a:cs typeface="Arial"/>
                <a:ea typeface="Arial"/>
              </a:rPr>
              <a:t>Tested on synthetic incidents where the true cause is known.</a:t>
            </a:r>
          </a:p>
        </p:txBody>
      </p:sp>
      <p:cxnSp>
        <p:nvCxnSpPr>
          <p:cNvPr id="5" name="Connector 4"/>
          <p:cNvCxnSpPr/>
          <p:nvPr/>
        </p:nvCxnSpPr>
        <p:spPr>
          <a:xfrm>
            <a:off x="658368" y="2029968"/>
            <a:ext cx="10874959" cy="0"/>
          </a:xfrm>
          <a:prstGeom prst="line">
            <a:avLst/>
          </a:prstGeom>
          <a:ln w="9525">
            <a:solidFill>
              <a:srgbClr val="C9D2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2212848"/>
            <a:ext cx="5760720" cy="457200"/>
          </a:xfrm>
          <a:prstGeom prst="rect">
            <a:avLst/>
          </a:prstGeom>
          <a:noFill/>
        </p:spPr>
        <p:txBody>
          <a:bodyPr wrap="square" lIns="0" rIns="0" tIns="0" bIns="0" anchor="t">
            <a:spAutoFit/>
          </a:bodyPr>
          <a:lstStyle/>
          <a:p>
            <a:pPr algn="l">
              <a:lnSpc>
                <a:spcPct val="112000"/>
              </a:lnSpc>
              <a:spcAft>
                <a:spcPts val="300"/>
              </a:spcAft>
            </a:pPr>
            <a:r>
              <a:rPr sz="950" b="1" i="0" spc="140">
                <a:solidFill>
                  <a:srgbClr val="131A22"/>
                </a:solidFill>
                <a:latin typeface="Arial"/>
                <a:cs typeface="Arial"/>
                <a:ea typeface="Arial"/>
              </a:rPr>
              <a:t>FALSE CERTAINTY RATE</a:t>
            </a:r>
          </a:p>
          <a:p>
            <a:pPr algn="l">
              <a:lnSpc>
                <a:spcPct val="115000"/>
              </a:lnSpc>
            </a:pPr>
            <a:r>
              <a:rPr sz="1000" b="0" i="0">
                <a:solidFill>
                  <a:srgbClr val="4A5866"/>
                </a:solidFill>
                <a:latin typeface="Arial"/>
                <a:cs typeface="Arial"/>
                <a:ea typeface="Arial"/>
              </a:rPr>
              <a:t>How often a system confidently names the wrong cause, on incidents built so the true cause cannot be recovered from the data.</a:t>
            </a:r>
          </a:p>
        </p:txBody>
      </p:sp>
      <p:sp>
        <p:nvSpPr>
          <p:cNvPr id="7" name="TextBox 6"/>
          <p:cNvSpPr txBox="1"/>
          <p:nvPr/>
        </p:nvSpPr>
        <p:spPr>
          <a:xfrm>
            <a:off x="658368" y="3072384"/>
            <a:ext cx="5394960" cy="237744"/>
          </a:xfrm>
          <a:prstGeom prst="rect">
            <a:avLst/>
          </a:prstGeom>
          <a:noFill/>
        </p:spPr>
        <p:txBody>
          <a:bodyPr wrap="square" lIns="0" rIns="0" tIns="0" bIns="0" anchor="t">
            <a:spAutoFit/>
          </a:bodyPr>
          <a:lstStyle/>
          <a:p>
            <a:pPr algn="l">
              <a:lnSpc>
                <a:spcPct val="112000"/>
              </a:lnSpc>
            </a:pPr>
            <a:r>
              <a:rPr sz="1200" b="1" i="0">
                <a:solidFill>
                  <a:srgbClr val="131A22"/>
                </a:solidFill>
                <a:latin typeface="Arial"/>
                <a:cs typeface="Arial"/>
                <a:ea typeface="Arial"/>
              </a:rPr>
              <a:t>Dashboard + LLM narrative</a:t>
            </a:r>
          </a:p>
        </p:txBody>
      </p:sp>
      <p:sp>
        <p:nvSpPr>
          <p:cNvPr id="8" name="Rectangle 7"/>
          <p:cNvSpPr/>
          <p:nvPr/>
        </p:nvSpPr>
        <p:spPr>
          <a:xfrm>
            <a:off x="658368" y="3383279"/>
            <a:ext cx="5394960" cy="310896"/>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3383279"/>
            <a:ext cx="4963363" cy="310896"/>
          </a:xfrm>
          <a:prstGeom prst="rect">
            <a:avLst/>
          </a:prstGeom>
          <a:solidFill>
            <a:srgbClr val="8F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3767328"/>
            <a:ext cx="5394960" cy="237744"/>
          </a:xfrm>
          <a:prstGeom prst="rect">
            <a:avLst/>
          </a:prstGeom>
          <a:noFill/>
        </p:spPr>
        <p:txBody>
          <a:bodyPr wrap="square" lIns="0" rIns="0" tIns="0" bIns="0" anchor="t">
            <a:spAutoFit/>
          </a:bodyPr>
          <a:lstStyle/>
          <a:p>
            <a:pPr algn="l">
              <a:lnSpc>
                <a:spcPct val="112000"/>
              </a:lnSpc>
            </a:pPr>
            <a:r>
              <a:rPr sz="1000" b="0" i="0">
                <a:solidFill>
                  <a:srgbClr val="4A5866"/>
                </a:solidFill>
                <a:latin typeface="Arial"/>
                <a:cs typeface="Arial"/>
                <a:ea typeface="Arial"/>
              </a:rPr>
              <a:t>explanation → confidence, with no identifiability check</a:t>
            </a:r>
          </a:p>
        </p:txBody>
      </p:sp>
      <p:sp>
        <p:nvSpPr>
          <p:cNvPr id="11" name="TextBox 10"/>
          <p:cNvSpPr txBox="1"/>
          <p:nvPr/>
        </p:nvSpPr>
        <p:spPr>
          <a:xfrm>
            <a:off x="658368" y="4297680"/>
            <a:ext cx="5394960" cy="237744"/>
          </a:xfrm>
          <a:prstGeom prst="rect">
            <a:avLst/>
          </a:prstGeom>
          <a:noFill/>
        </p:spPr>
        <p:txBody>
          <a:bodyPr wrap="square" lIns="0" rIns="0" tIns="0" bIns="0" anchor="t">
            <a:spAutoFit/>
          </a:bodyPr>
          <a:lstStyle/>
          <a:p>
            <a:pPr algn="l">
              <a:lnSpc>
                <a:spcPct val="112000"/>
              </a:lnSpc>
            </a:pPr>
            <a:r>
              <a:rPr sz="1200" b="1" i="0">
                <a:solidFill>
                  <a:srgbClr val="131A22"/>
                </a:solidFill>
                <a:latin typeface="Arial"/>
                <a:cs typeface="Arial"/>
                <a:ea typeface="Arial"/>
              </a:rPr>
              <a:t>CaseFile</a:t>
            </a:r>
          </a:p>
        </p:txBody>
      </p:sp>
      <p:sp>
        <p:nvSpPr>
          <p:cNvPr id="12" name="Rectangle 11"/>
          <p:cNvSpPr/>
          <p:nvPr/>
        </p:nvSpPr>
        <p:spPr>
          <a:xfrm>
            <a:off x="658368" y="4608576"/>
            <a:ext cx="5394960" cy="310896"/>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58368" y="4608576"/>
            <a:ext cx="755294" cy="310896"/>
          </a:xfrm>
          <a:prstGeom prst="rect">
            <a:avLst/>
          </a:prstGeom>
          <a:solidFill>
            <a:srgbClr val="0B73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4992624"/>
            <a:ext cx="5394960" cy="237744"/>
          </a:xfrm>
          <a:prstGeom prst="rect">
            <a:avLst/>
          </a:prstGeom>
          <a:noFill/>
        </p:spPr>
        <p:txBody>
          <a:bodyPr wrap="square" lIns="0" rIns="0" tIns="0" bIns="0" anchor="t">
            <a:spAutoFit/>
          </a:bodyPr>
          <a:lstStyle/>
          <a:p>
            <a:pPr algn="l">
              <a:lnSpc>
                <a:spcPct val="112000"/>
              </a:lnSpc>
            </a:pPr>
            <a:r>
              <a:rPr sz="1000" b="0" i="0">
                <a:solidFill>
                  <a:srgbClr val="4A5866"/>
                </a:solidFill>
                <a:latin typeface="Arial"/>
                <a:cs typeface="Arial"/>
                <a:ea typeface="Arial"/>
              </a:rPr>
              <a:t>evidence → certainty → decision or experiment</a:t>
            </a:r>
          </a:p>
        </p:txBody>
      </p:sp>
      <p:sp>
        <p:nvSpPr>
          <p:cNvPr id="15" name="TextBox 14"/>
          <p:cNvSpPr txBox="1"/>
          <p:nvPr/>
        </p:nvSpPr>
        <p:spPr>
          <a:xfrm>
            <a:off x="658368" y="5632704"/>
            <a:ext cx="5760720" cy="274320"/>
          </a:xfrm>
          <a:prstGeom prst="rect">
            <a:avLst/>
          </a:prstGeom>
          <a:noFill/>
        </p:spPr>
        <p:txBody>
          <a:bodyPr wrap="square" lIns="0" rIns="0" tIns="0" bIns="0" anchor="t">
            <a:spAutoFit/>
          </a:bodyPr>
          <a:lstStyle/>
          <a:p>
            <a:pPr algn="l">
              <a:lnSpc>
                <a:spcPct val="115000"/>
              </a:lnSpc>
            </a:pPr>
            <a:r>
              <a:rPr sz="750" b="0" i="0">
                <a:solidFill>
                  <a:srgbClr val="8A959F"/>
                </a:solidFill>
                <a:latin typeface="Arial"/>
                <a:cs typeface="Arial"/>
                <a:ea typeface="Arial"/>
              </a:rPr>
              <a:t>Bar lengths illustrative. Actual values come from the evaluation harness run against our incident simulator.</a:t>
            </a:r>
          </a:p>
        </p:txBody>
      </p:sp>
      <p:sp>
        <p:nvSpPr>
          <p:cNvPr id="16" name="TextBox 15"/>
          <p:cNvSpPr txBox="1"/>
          <p:nvPr/>
        </p:nvSpPr>
        <p:spPr>
          <a:xfrm>
            <a:off x="6675120" y="2304288"/>
            <a:ext cx="4858207" cy="219456"/>
          </a:xfrm>
          <a:prstGeom prst="rect">
            <a:avLst/>
          </a:prstGeom>
          <a:noFill/>
        </p:spPr>
        <p:txBody>
          <a:bodyPr wrap="square" lIns="0" rIns="0" tIns="0" bIns="0" anchor="t">
            <a:spAutoFit/>
          </a:bodyPr>
          <a:lstStyle/>
          <a:p>
            <a:pPr algn="l">
              <a:lnSpc>
                <a:spcPct val="112000"/>
              </a:lnSpc>
            </a:pPr>
            <a:r>
              <a:rPr sz="950" b="1" i="0" spc="120">
                <a:solidFill>
                  <a:srgbClr val="54748A"/>
                </a:solidFill>
                <a:latin typeface="Arial"/>
                <a:cs typeface="Arial"/>
                <a:ea typeface="Arial"/>
              </a:rPr>
              <a:t>DIFFERENTIATOR</a:t>
            </a:r>
          </a:p>
        </p:txBody>
      </p:sp>
      <p:sp>
        <p:nvSpPr>
          <p:cNvPr id="17" name="TextBox 16"/>
          <p:cNvSpPr txBox="1"/>
          <p:nvPr/>
        </p:nvSpPr>
        <p:spPr>
          <a:xfrm>
            <a:off x="6675120" y="2578608"/>
            <a:ext cx="4858207" cy="566928"/>
          </a:xfrm>
          <a:prstGeom prst="rect">
            <a:avLst/>
          </a:prstGeom>
          <a:noFill/>
        </p:spPr>
        <p:txBody>
          <a:bodyPr wrap="square" lIns="0" rIns="0" tIns="0" bIns="0" anchor="t">
            <a:spAutoFit/>
          </a:bodyPr>
          <a:lstStyle/>
          <a:p>
            <a:pPr algn="l">
              <a:lnSpc>
                <a:spcPct val="118000"/>
              </a:lnSpc>
            </a:pPr>
            <a:r>
              <a:rPr sz="1150" b="0" i="0">
                <a:solidFill>
                  <a:srgbClr val="4A5866"/>
                </a:solidFill>
                <a:latin typeface="Arial"/>
                <a:cs typeface="Arial"/>
                <a:ea typeface="Arial"/>
              </a:rPr>
              <a:t>Uncertainty → decisive experiment → measured outcome.</a:t>
            </a:r>
          </a:p>
        </p:txBody>
      </p:sp>
      <p:cxnSp>
        <p:nvCxnSpPr>
          <p:cNvPr id="18" name="Connector 17"/>
          <p:cNvCxnSpPr/>
          <p:nvPr/>
        </p:nvCxnSpPr>
        <p:spPr>
          <a:xfrm>
            <a:off x="6675120" y="3200400"/>
            <a:ext cx="4858207" cy="0"/>
          </a:xfrm>
          <a:prstGeom prst="line">
            <a:avLst/>
          </a:prstGeom>
          <a:ln w="7620">
            <a:solidFill>
              <a:srgbClr val="C9D2D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675120" y="3273552"/>
            <a:ext cx="4858207" cy="219456"/>
          </a:xfrm>
          <a:prstGeom prst="rect">
            <a:avLst/>
          </a:prstGeom>
          <a:noFill/>
        </p:spPr>
        <p:txBody>
          <a:bodyPr wrap="square" lIns="0" rIns="0" tIns="0" bIns="0" anchor="t">
            <a:spAutoFit/>
          </a:bodyPr>
          <a:lstStyle/>
          <a:p>
            <a:pPr algn="l">
              <a:lnSpc>
                <a:spcPct val="112000"/>
              </a:lnSpc>
            </a:pPr>
            <a:r>
              <a:rPr sz="950" b="1" i="0" spc="120">
                <a:solidFill>
                  <a:srgbClr val="336480"/>
                </a:solidFill>
                <a:latin typeface="Arial"/>
                <a:cs typeface="Arial"/>
                <a:ea typeface="Arial"/>
              </a:rPr>
              <a:t>TRUSTED</a:t>
            </a:r>
          </a:p>
        </p:txBody>
      </p:sp>
      <p:sp>
        <p:nvSpPr>
          <p:cNvPr id="20" name="TextBox 19"/>
          <p:cNvSpPr txBox="1"/>
          <p:nvPr/>
        </p:nvSpPr>
        <p:spPr>
          <a:xfrm>
            <a:off x="6675120" y="3547872"/>
            <a:ext cx="4858207" cy="566928"/>
          </a:xfrm>
          <a:prstGeom prst="rect">
            <a:avLst/>
          </a:prstGeom>
          <a:noFill/>
        </p:spPr>
        <p:txBody>
          <a:bodyPr wrap="square" lIns="0" rIns="0" tIns="0" bIns="0" anchor="t">
            <a:spAutoFit/>
          </a:bodyPr>
          <a:lstStyle/>
          <a:p>
            <a:pPr algn="l">
              <a:lnSpc>
                <a:spcPct val="118000"/>
              </a:lnSpc>
            </a:pPr>
            <a:r>
              <a:rPr sz="1150" b="0" i="0">
                <a:solidFill>
                  <a:srgbClr val="4A5866"/>
                </a:solidFill>
                <a:latin typeface="Arial"/>
                <a:cs typeface="Arial"/>
                <a:ea typeface="Arial"/>
              </a:rPr>
              <a:t>Every claim carries an evidence rung and a source.</a:t>
            </a:r>
          </a:p>
        </p:txBody>
      </p:sp>
      <p:cxnSp>
        <p:nvCxnSpPr>
          <p:cNvPr id="21" name="Connector 20"/>
          <p:cNvCxnSpPr/>
          <p:nvPr/>
        </p:nvCxnSpPr>
        <p:spPr>
          <a:xfrm>
            <a:off x="6675120" y="4169664"/>
            <a:ext cx="4858207" cy="0"/>
          </a:xfrm>
          <a:prstGeom prst="line">
            <a:avLst/>
          </a:prstGeom>
          <a:ln w="7620">
            <a:solidFill>
              <a:srgbClr val="C9D2D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675120" y="4242816"/>
            <a:ext cx="4858207" cy="219456"/>
          </a:xfrm>
          <a:prstGeom prst="rect">
            <a:avLst/>
          </a:prstGeom>
          <a:noFill/>
        </p:spPr>
        <p:txBody>
          <a:bodyPr wrap="square" lIns="0" rIns="0" tIns="0" bIns="0" anchor="t">
            <a:spAutoFit/>
          </a:bodyPr>
          <a:lstStyle/>
          <a:p>
            <a:pPr algn="l">
              <a:lnSpc>
                <a:spcPct val="112000"/>
              </a:lnSpc>
            </a:pPr>
            <a:r>
              <a:rPr sz="950" b="1" i="0" spc="120">
                <a:solidFill>
                  <a:srgbClr val="136065"/>
                </a:solidFill>
                <a:latin typeface="Arial"/>
                <a:cs typeface="Arial"/>
                <a:ea typeface="Arial"/>
              </a:rPr>
              <a:t>BUILDABLE</a:t>
            </a:r>
          </a:p>
        </p:txBody>
      </p:sp>
      <p:sp>
        <p:nvSpPr>
          <p:cNvPr id="23" name="TextBox 22"/>
          <p:cNvSpPr txBox="1"/>
          <p:nvPr/>
        </p:nvSpPr>
        <p:spPr>
          <a:xfrm>
            <a:off x="6675120" y="4517136"/>
            <a:ext cx="4858207" cy="566928"/>
          </a:xfrm>
          <a:prstGeom prst="rect">
            <a:avLst/>
          </a:prstGeom>
          <a:noFill/>
        </p:spPr>
        <p:txBody>
          <a:bodyPr wrap="square" lIns="0" rIns="0" tIns="0" bIns="0" anchor="t">
            <a:spAutoFit/>
          </a:bodyPr>
          <a:lstStyle/>
          <a:p>
            <a:pPr algn="l">
              <a:lnSpc>
                <a:spcPct val="118000"/>
              </a:lnSpc>
            </a:pPr>
            <a:r>
              <a:rPr sz="1150" b="0" i="0">
                <a:solidFill>
                  <a:srgbClr val="4A5866"/>
                </a:solidFill>
                <a:latin typeface="Arial"/>
                <a:cs typeface="Arial"/>
                <a:ea typeface="Arial"/>
              </a:rPr>
              <a:t>Proven ML and causal tooling, plus our evidence, experiment and evaluation layer.</a:t>
            </a:r>
          </a:p>
        </p:txBody>
      </p:sp>
      <p:cxnSp>
        <p:nvCxnSpPr>
          <p:cNvPr id="24" name="Connector 23"/>
          <p:cNvCxnSpPr/>
          <p:nvPr/>
        </p:nvCxnSpPr>
        <p:spPr>
          <a:xfrm>
            <a:off x="6675120" y="5138928"/>
            <a:ext cx="4858207" cy="0"/>
          </a:xfrm>
          <a:prstGeom prst="line">
            <a:avLst/>
          </a:prstGeom>
          <a:ln w="7620">
            <a:solidFill>
              <a:srgbClr val="C9D2D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675120" y="5212080"/>
            <a:ext cx="4858207" cy="219456"/>
          </a:xfrm>
          <a:prstGeom prst="rect">
            <a:avLst/>
          </a:prstGeom>
          <a:noFill/>
        </p:spPr>
        <p:txBody>
          <a:bodyPr wrap="square" lIns="0" rIns="0" tIns="0" bIns="0" anchor="t">
            <a:spAutoFit/>
          </a:bodyPr>
          <a:lstStyle/>
          <a:p>
            <a:pPr algn="l">
              <a:lnSpc>
                <a:spcPct val="112000"/>
              </a:lnSpc>
            </a:pPr>
            <a:r>
              <a:rPr sz="950" b="1" i="0" spc="120">
                <a:solidFill>
                  <a:srgbClr val="0A6B4F"/>
                </a:solidFill>
                <a:latin typeface="Arial"/>
                <a:cs typeface="Arial"/>
                <a:ea typeface="Arial"/>
              </a:rPr>
              <a:t>VALUABLE</a:t>
            </a:r>
          </a:p>
        </p:txBody>
      </p:sp>
      <p:sp>
        <p:nvSpPr>
          <p:cNvPr id="26" name="TextBox 25"/>
          <p:cNvSpPr txBox="1"/>
          <p:nvPr/>
        </p:nvSpPr>
        <p:spPr>
          <a:xfrm>
            <a:off x="6675120" y="5486400"/>
            <a:ext cx="4858207" cy="566928"/>
          </a:xfrm>
          <a:prstGeom prst="rect">
            <a:avLst/>
          </a:prstGeom>
          <a:noFill/>
        </p:spPr>
        <p:txBody>
          <a:bodyPr wrap="square" lIns="0" rIns="0" tIns="0" bIns="0" anchor="t">
            <a:spAutoFit/>
          </a:bodyPr>
          <a:lstStyle/>
          <a:p>
            <a:pPr algn="l">
              <a:lnSpc>
                <a:spcPct val="118000"/>
              </a:lnSpc>
            </a:pPr>
            <a:r>
              <a:rPr sz="1150" b="0" i="0">
                <a:solidFill>
                  <a:srgbClr val="4A5866"/>
                </a:solidFill>
                <a:latin typeface="Arial"/>
                <a:cs typeface="Arial"/>
                <a:ea typeface="Arial"/>
              </a:rPr>
              <a:t>The value isn't faster reports. It's avoiding the wrong intervention.</a:t>
            </a:r>
          </a:p>
        </p:txBody>
      </p:sp>
      <p:sp>
        <p:nvSpPr>
          <p:cNvPr id="27" name="Rectangle 26"/>
          <p:cNvSpPr/>
          <p:nvPr/>
        </p:nvSpPr>
        <p:spPr>
          <a:xfrm>
            <a:off x="658368" y="6272784"/>
            <a:ext cx="10874959" cy="420624"/>
          </a:xfrm>
          <a:prstGeom prst="rect">
            <a:avLst/>
          </a:prstGeom>
          <a:solidFill>
            <a:srgbClr val="131A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59536" y="6382512"/>
            <a:ext cx="10472623" cy="237744"/>
          </a:xfrm>
          <a:prstGeom prst="rect">
            <a:avLst/>
          </a:prstGeom>
          <a:noFill/>
        </p:spPr>
        <p:txBody>
          <a:bodyPr wrap="square" lIns="0" rIns="0" tIns="0" bIns="0" anchor="t">
            <a:spAutoFit/>
          </a:bodyPr>
          <a:lstStyle/>
          <a:p>
            <a:pPr algn="l">
              <a:lnSpc>
                <a:spcPct val="112000"/>
              </a:lnSpc>
            </a:pPr>
            <a:r>
              <a:rPr sz="1150" b="1" i="0">
                <a:solidFill>
                  <a:srgbClr val="FFFFFF"/>
                </a:solidFill>
                <a:latin typeface="Arial"/>
                <a:cs typeface="Arial"/>
                <a:ea typeface="Arial"/>
              </a:rPr>
              <a:t>The dashboard tells you what happened. We build the evidence for why, we know when we cannot know, and we tell you what to do next.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